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0" r:id="rId2"/>
    <p:sldId id="281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299" r:id="rId14"/>
    <p:sldId id="295" r:id="rId15"/>
    <p:sldId id="300" r:id="rId16"/>
    <p:sldId id="294" r:id="rId17"/>
    <p:sldId id="282" r:id="rId18"/>
    <p:sldId id="284" r:id="rId19"/>
    <p:sldId id="289" r:id="rId20"/>
    <p:sldId id="288" r:id="rId21"/>
    <p:sldId id="286" r:id="rId22"/>
    <p:sldId id="311" r:id="rId23"/>
    <p:sldId id="312" r:id="rId24"/>
    <p:sldId id="313" r:id="rId25"/>
    <p:sldId id="314" r:id="rId26"/>
    <p:sldId id="315" r:id="rId27"/>
    <p:sldId id="316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E2074-33BD-4093-9B78-D53EB3D13198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CB47-D796-44F2-AC78-677B9951EF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6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62BF4-7013-37B5-FD19-F4DAE9704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021FE3-3513-03B9-C662-AB5EC1EEE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6CABC-B8CA-B52B-ED57-17E33C79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D7B56-42C3-944B-2B44-068464B6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CAAD1-7958-54AD-106B-55D761A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2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A9109-4F86-5089-E4A4-9C5A1EE5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E796-96A8-13C0-BBE7-D49D15F6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5300D-17C3-5945-62F6-EE0F60DE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236DB-D4C1-2470-AA9C-8A2FCD1E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5D05D-F6AC-02B0-7D2C-5105FD4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6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E9211-E69C-44A4-3A92-564AD5FA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02166-8723-CF11-E5F9-162DD0AB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5B37B-FA95-A1DB-530B-9569B485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1B0BA-FFCB-2512-0F68-B9C62CF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1D30A-0CD8-B10B-8EEC-D1A8010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870C8-D4C8-3FDF-3983-58E867CB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B98A-1EDD-2519-7538-F67415B6A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9F155-0609-D4EB-224B-3465C9B32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1A7C43-9386-9124-FC5C-AFBC632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CCBED-3C66-47BD-32BC-8D431A8A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B49B0A-0E21-18F0-7AE4-B56DE0C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7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76F5B-DEFE-FCD5-05AC-90B6E8FD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0F4A8-99FB-86ED-2007-00C8F252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BA10C1-F33A-791E-BB18-8DE3E2BE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7E054-D599-6BC3-28C8-02F1C86D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F42B2C-E766-43A2-03B2-15D64B703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3B19F9-77DF-4CC9-0C62-EC07A641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C16E5-03AA-86AD-5041-981629FE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1401B5-52A7-EE97-E35C-0E18BB30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0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3338-A7E2-A262-74F5-40A49F53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4E65E0-A9B4-C480-9F32-770119A7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9BB281-EB2D-1DA0-8F50-E632F08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F4B57-6CC3-65F6-ABE1-3BAEF41E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FBC62-172E-3CC7-A284-380018A8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4A74E2-8C1D-81E4-8F63-3445D526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3BDB03-EB88-223C-642F-D36CAA9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5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9DAC5-05E6-AD7D-C60A-890C705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EBFB5-2635-CEB9-65B9-3FC6540C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46283-E988-3E58-91A3-1E18922ED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9DBBE8-D995-670C-1580-AE797FB0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CB45D-F698-F02E-BF25-9D662007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91D88-3919-2E21-B238-376F35DD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79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FDD0-727B-7362-61F2-5785625C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D6CDBE-AD22-ECAC-8A7C-A1CF2664A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919CE-3BE3-4340-9FF9-B7FF7018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6DDA1B-268B-F7EB-0177-551E2A6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B1CAD5-1BA4-06CC-3287-D3B71C60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5889E0-5D4E-A47D-FE63-E93BF0B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8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B6E84-E01E-A7BE-7F7C-B863C581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FCB32-2F1F-7783-3F95-5C039856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B2B8C-B97D-AA5B-850F-B4ECB4C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AC2AA-9950-B8C9-8E59-A3E244C9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0F3A47-F3AC-F27C-B612-F56C86B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047014-9CB3-E9DE-0A25-59C27464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52AD17-96DA-7B1E-2570-A76E00319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60232-0317-9FCF-7BE1-C0443531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3EE93-9CA4-87E8-A0C9-7A3037E6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DB52FD-709C-6CB3-8C1D-69E8D21B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33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08E86-9FC6-B231-EF30-FB6447C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424342-DF15-0D16-9A30-86ED6D0DE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D6948-5AE3-EA8A-2304-7479C08D8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5C212-0096-4947-A1C7-4E4924B880DB}" type="datetimeFigureOut">
              <a:rPr lang="ru-RU" smtClean="0"/>
              <a:t>14.10.2025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8215-4625-560F-439F-6D2C8DD71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68D13-4E06-146C-807B-B391347FA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21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F4673-FDA2-DC0A-0F08-BF778A93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OWASP</a:t>
            </a:r>
            <a:endParaRPr lang="ru-RU" sz="4000" dirty="0"/>
          </a:p>
        </p:txBody>
      </p:sp>
      <p:pic>
        <p:nvPicPr>
          <p:cNvPr id="2050" name="Picture 2" descr="🕵 Что такое Топ-10 OWASP и какие уязвимости веб-приложений наиболее опасны?">
            <a:extLst>
              <a:ext uri="{FF2B5EF4-FFF2-40B4-BE49-F238E27FC236}">
                <a16:creationId xmlns:a16="http://schemas.microsoft.com/office/drawing/2014/main" id="{682220CE-7CE2-5F5E-E3CB-AFFA00F956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666" y="2351314"/>
            <a:ext cx="6356668" cy="317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61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241DB-0ADA-EF6C-691F-DD7B88764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 10 for ML Applications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780ECF-177D-9BE8-0961-05B7DF809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ML01:2023 Input Manipulation Attack</a:t>
            </a:r>
          </a:p>
          <a:p>
            <a:r>
              <a:rPr lang="en-US" dirty="0"/>
              <a:t>ML02:2023 Data Poisoning Attack</a:t>
            </a:r>
          </a:p>
          <a:p>
            <a:r>
              <a:rPr lang="en-US" dirty="0"/>
              <a:t>ML03:2023 Model Inversion Attack</a:t>
            </a:r>
          </a:p>
          <a:p>
            <a:r>
              <a:rPr lang="en-US" dirty="0"/>
              <a:t>ML04:2023 Membership Inference Attack</a:t>
            </a:r>
          </a:p>
          <a:p>
            <a:r>
              <a:rPr lang="en-US" dirty="0"/>
              <a:t>ML05:2023 Model Theft</a:t>
            </a:r>
          </a:p>
          <a:p>
            <a:r>
              <a:rPr lang="en-US" dirty="0"/>
              <a:t>ML06:2023 AI Supply Chain Attacks</a:t>
            </a:r>
          </a:p>
          <a:p>
            <a:r>
              <a:rPr lang="en-US" dirty="0"/>
              <a:t>ML07:2023 Transfer Learning Attack</a:t>
            </a:r>
          </a:p>
          <a:p>
            <a:r>
              <a:rPr lang="en-US" dirty="0"/>
              <a:t>ML08:2023 Model Skewing</a:t>
            </a:r>
          </a:p>
          <a:p>
            <a:r>
              <a:rPr lang="en-US" dirty="0"/>
              <a:t>ML09:2023 Output Integrity Attack</a:t>
            </a:r>
          </a:p>
          <a:p>
            <a:r>
              <a:rPr lang="en-US" dirty="0"/>
              <a:t>ML10:2023 Model Poisoning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825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ML01:2023 Input Manipulation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Т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ип атаки, при которой злоумышленник намеренно изменяет входные данные, чтобы ввести модель в заблуждение.</a:t>
            </a:r>
          </a:p>
          <a:p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Валидация входных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Использование робастных моделей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141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ML02:2023 Data Poisoning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манипулирует обучающими данными, чтобы заставить модель вести себя нежелательным образом.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Валидация входных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Контроль доступа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Безопасное хранение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Мониторинг и аудит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Валидация моделей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964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ML03:2023 Model Inversion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делает реверс-инжиниринг модели, чтобы извлечь из нее информацию.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Валидация входных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Контроль доступа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Мониторинг 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Регулярное переобучение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29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ML04:2023 Membership Inference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манипулирует обучающими данными модели, чтобы заставить ее вести себя таким образом, что раскрывается конфиденциальная информация.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Валидация входных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Контроль доступа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Мониторинг 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Регулярное переобучение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42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ML05:2023 Model Theft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лоумышленник получает доступ к параметрам модели.</a:t>
            </a: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Контроль доступа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Мониторинг и аудит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Юридическая защита</a:t>
            </a:r>
          </a:p>
          <a:p>
            <a:r>
              <a:rPr lang="ru-RU" dirty="0" err="1">
                <a:solidFill>
                  <a:srgbClr val="000000"/>
                </a:solidFill>
                <a:latin typeface="roboto" panose="02000000000000000000" pitchFamily="2" charset="0"/>
              </a:rPr>
              <a:t>Обфускация</a:t>
            </a: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и шифрование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8992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ML06:2023 AI Supply Chain Attacks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модифицирует или заменяет библиотеку или модель машинного обучения, которые используются системой. 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Проверка используемых пакетов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Использование безопасных репозиториев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Использование виртуальных сред для изоляции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Информирование разработчиков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25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ML07:2023 Transfer Learning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обучает модель одной задаче, а затем настраивает ее для другой задачи, чтобы заставить ее вести себя нежелательным образом. 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Обновление </a:t>
            </a:r>
            <a:r>
              <a:rPr lang="ru-RU" dirty="0" err="1">
                <a:solidFill>
                  <a:srgbClr val="000000"/>
                </a:solidFill>
                <a:latin typeface="roboto" panose="02000000000000000000" pitchFamily="2" charset="0"/>
              </a:rPr>
              <a:t>датасетов</a:t>
            </a: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Регулярный аудит безопасности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Изоляция среды обучения моделей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929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ML08:2023 Model Skewing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манипулирует распределением обучающих данных, чтобы заставить модель вести себя нежелательным образом.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Контроль доступа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Валидация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Поиск аномалий в данных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Мониторинг моделей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Регулярное переобучение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107761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ML09:2023 Output Integrity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стремится изменить выходные данные модели машинного обучения или манипулировать ими, чтобы изменить ее поведение или нанести вред системе, в которой она используется.</a:t>
            </a:r>
            <a:endParaRPr lang="en-US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Контроль доступа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Шифрование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Безопасные каналы связи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Мониторинг и аудит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Регулярное обновление ПО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22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ML10:2023 Model Poisoning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Злоумышленник манипулирует параметрами модели, чтобы заставить ее вести себя нежелательным образом.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Защита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Регуляризация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Шифрование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Безопасные каналы связи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Мониторинг и аудит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Регулярное обновление ПО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88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27987-E91B-DF27-38DD-F5F17F53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что там с </a:t>
            </a:r>
            <a:r>
              <a:rPr lang="en-US" dirty="0"/>
              <a:t>LLM?</a:t>
            </a:r>
            <a:endParaRPr lang="ru-RU" dirty="0"/>
          </a:p>
        </p:txBody>
      </p:sp>
      <p:pic>
        <p:nvPicPr>
          <p:cNvPr id="1026" name="Picture 2" descr="Results from the AI testing hackathon — EA Forum">
            <a:extLst>
              <a:ext uri="{FF2B5EF4-FFF2-40B4-BE49-F238E27FC236}">
                <a16:creationId xmlns:a16="http://schemas.microsoft.com/office/drawing/2014/main" id="{DFA6B2EF-4091-C2A6-DC1F-418635F3DC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969" y="1848533"/>
            <a:ext cx="8992062" cy="4305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97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69B75-D018-F476-4B6F-A1AFF065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Вспомним, что может пойти не так?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F8F7AD-A98A-7336-CDEC-E7194AB53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Этичность и токсичность ответа </a:t>
            </a:r>
          </a:p>
          <a:p>
            <a:r>
              <a:rPr lang="ru-RU" dirty="0"/>
              <a:t>Защита интеллектуальной собственности компании</a:t>
            </a:r>
          </a:p>
          <a:p>
            <a:r>
              <a:rPr lang="ru-RU" dirty="0"/>
              <a:t>Утечки данных</a:t>
            </a:r>
          </a:p>
          <a:p>
            <a:r>
              <a:rPr lang="ru-RU" dirty="0"/>
              <a:t>Взлом через </a:t>
            </a:r>
            <a:r>
              <a:rPr lang="ru-RU" dirty="0" err="1"/>
              <a:t>JailBreak</a:t>
            </a:r>
            <a:endParaRPr lang="ru-RU" dirty="0"/>
          </a:p>
          <a:p>
            <a:r>
              <a:rPr lang="ru-RU" dirty="0"/>
              <a:t>Предубеждение в работе модели</a:t>
            </a:r>
          </a:p>
          <a:p>
            <a:r>
              <a:rPr lang="ru-RU" dirty="0"/>
              <a:t>Восстание машин</a:t>
            </a:r>
          </a:p>
          <a:p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4377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241DB-0ADA-EF6C-691F-DD7B88764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 10 for LLM Applications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780ECF-177D-9BE8-0961-05B7DF809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Создание списка OWASP Top 10 для LLM было основано на коллективном опыте международной команды, состоящей из почти 500 экспертов.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Команда провела мозговой штурм и предложила потенциальные уязвимости, а затем каждая уязвимость была дополнительно изучена и уточнена специальными подгруппами и подвергнута публичному рассмотрению.</a:t>
            </a:r>
          </a:p>
        </p:txBody>
      </p:sp>
    </p:spTree>
    <p:extLst>
      <p:ext uri="{BB962C8B-B14F-4D97-AF65-F5344CB8AC3E}">
        <p14:creationId xmlns:p14="http://schemas.microsoft.com/office/powerpoint/2010/main" val="4019512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5A0CC07-F7E8-3E59-65B4-959369E4E3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48" y="129120"/>
            <a:ext cx="11732904" cy="659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61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94A43-D2A4-7C2B-8B4A-F87FE8D4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LLM01: Prompt Injection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584FDC-5A99-6542-C38A-983D5CBBA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Атакующий с помощью специально сформированного запроса</a:t>
            </a:r>
          </a:p>
          <a:p>
            <a:pPr marL="0" indent="0">
              <a:buNone/>
            </a:pPr>
            <a:r>
              <a:rPr lang="ru-RU" dirty="0"/>
              <a:t>заставляет LLM сделать некое действие, например:</a:t>
            </a:r>
          </a:p>
          <a:p>
            <a:r>
              <a:rPr lang="ru-RU" dirty="0"/>
              <a:t>Раскрыть чувствительную информацию</a:t>
            </a:r>
          </a:p>
          <a:p>
            <a:r>
              <a:rPr lang="ru-RU" dirty="0"/>
              <a:t>Совершить некорректное действие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Ничего не напоминает?</a:t>
            </a:r>
            <a:endParaRPr lang="en-US" dirty="0"/>
          </a:p>
        </p:txBody>
      </p:sp>
      <p:pic>
        <p:nvPicPr>
          <p:cNvPr id="4098" name="Picture 2" descr="How to Prevent Prompt Injections: An Incomplete Guide | Haystack">
            <a:extLst>
              <a:ext uri="{FF2B5EF4-FFF2-40B4-BE49-F238E27FC236}">
                <a16:creationId xmlns:a16="http://schemas.microsoft.com/office/drawing/2014/main" id="{FF2B60ED-200D-F7E2-7540-7200926AB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96" y="4667794"/>
            <a:ext cx="4592538" cy="202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37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BE531-9C65-5F20-9D0D-6DCEDBC3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LLM01: Prompt Injection</a:t>
            </a:r>
            <a:r>
              <a:rPr lang="ru-RU" dirty="0"/>
              <a:t> - защита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680-D510-CDF1-4485-72881DA3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давать </a:t>
            </a:r>
            <a:r>
              <a:rPr lang="en-US" dirty="0"/>
              <a:t>LLM </a:t>
            </a:r>
            <a:r>
              <a:rPr lang="ru-RU" dirty="0"/>
              <a:t>прав на изменения</a:t>
            </a:r>
          </a:p>
          <a:p>
            <a:r>
              <a:rPr lang="ru-RU" dirty="0"/>
              <a:t>Добавить человека в сценарии взаимодействия</a:t>
            </a:r>
          </a:p>
          <a:p>
            <a:r>
              <a:rPr lang="ru-RU" dirty="0"/>
              <a:t>Отделение ненадежного контента от промптов</a:t>
            </a:r>
          </a:p>
          <a:p>
            <a:r>
              <a:rPr lang="ru-RU" dirty="0"/>
              <a:t>Мониторинг входных/выходных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68887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FB097-CC0B-87C6-80B9-7690620D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</a:t>
            </a:r>
            <a:r>
              <a:rPr lang="ru-RU" dirty="0"/>
              <a:t>2</a:t>
            </a:r>
            <a:r>
              <a:rPr lang="en-US" dirty="0"/>
              <a:t>: Sensitive Information Disclosure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B3BE3-DE63-C42A-A2E5-7B39B0C47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3268" cy="28247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При использовании LLM есть риск раскрытия чувствительной информации, проприетарных алгоритмов или любой другой конфиденциальной информации через вывод модели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Защита</a:t>
            </a:r>
            <a:r>
              <a:rPr lang="ru-RU" dirty="0"/>
              <a:t>:</a:t>
            </a:r>
          </a:p>
          <a:p>
            <a:r>
              <a:rPr lang="ru-RU" dirty="0"/>
              <a:t>Контроль данных для обучения моделей</a:t>
            </a:r>
          </a:p>
          <a:p>
            <a:r>
              <a:rPr lang="ru-RU" dirty="0"/>
              <a:t>Детектирование и фильтрация запросов к модели, которые направлены на получение КИ</a:t>
            </a:r>
          </a:p>
          <a:p>
            <a:r>
              <a:rPr lang="ru-RU" dirty="0"/>
              <a:t>Принцип наименьших привилегий: не тренируйте модель на данных, доступных только высокоуровневым пользователям, если доступ к модели будет у низкоуровневых пользователей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E1E2BD-745C-7731-711E-BE3FB297BF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134"/>
          <a:stretch/>
        </p:blipFill>
        <p:spPr>
          <a:xfrm>
            <a:off x="1794862" y="4580708"/>
            <a:ext cx="8602275" cy="215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71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1504B-AE8F-05D8-C7EC-9AD3686D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</a:t>
            </a:r>
            <a:r>
              <a:rPr lang="ru-RU" dirty="0"/>
              <a:t>3</a:t>
            </a:r>
            <a:r>
              <a:rPr lang="en-US" dirty="0"/>
              <a:t>: Supply Chain Vulnerabilities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154248-3BA3-87FA-9BE0-350C15B51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Атакующий может повлиять на целостность используемых для обучения данных, самих моделей или платформ развертывания, а также компонент LLM-плагина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Используем только доверенных поставщиков данных</a:t>
            </a:r>
          </a:p>
          <a:p>
            <a:r>
              <a:rPr lang="en-US" dirty="0" err="1"/>
              <a:t>Меры</a:t>
            </a:r>
            <a:r>
              <a:rPr lang="en-US" dirty="0"/>
              <a:t>, </a:t>
            </a:r>
            <a:r>
              <a:rPr lang="en-US" dirty="0" err="1"/>
              <a:t>описанные</a:t>
            </a:r>
            <a:r>
              <a:rPr lang="en-US" dirty="0"/>
              <a:t> в OWASP Top Ten's A06:2021 – Vulnerable and Outdated Components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1080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84C42-8E5E-C838-A732-99C30D41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</a:t>
            </a:r>
            <a:r>
              <a:rPr lang="ru-RU" dirty="0"/>
              <a:t>4</a:t>
            </a:r>
            <a:r>
              <a:rPr lang="en-US" dirty="0"/>
              <a:t>: Data and Model Poisoning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CEF8A0-BCB4-A5A7-543E-91C990A3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1354" cy="28421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Атакующий влияет на данные, используемые для обучения, или вмешивается в процессе </a:t>
            </a:r>
            <a:r>
              <a:rPr lang="ru-RU" dirty="0" err="1"/>
              <a:t>дообучения</a:t>
            </a:r>
            <a:r>
              <a:rPr lang="ru-RU" dirty="0"/>
              <a:t> для внесения уязвимостей, бэкдоров или предвзятости в итоговую LLM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Верификация цепочки поставки данных в </a:t>
            </a:r>
            <a:r>
              <a:rPr lang="en-US" dirty="0"/>
              <a:t>LLM</a:t>
            </a:r>
            <a:endParaRPr lang="ru-RU" dirty="0"/>
          </a:p>
          <a:p>
            <a:r>
              <a:rPr lang="ru-RU" dirty="0"/>
              <a:t>Валидация и аномальное обнаружение в данных</a:t>
            </a:r>
            <a:endParaRPr lang="en-US" dirty="0"/>
          </a:p>
          <a:p>
            <a:r>
              <a:rPr lang="ru-RU" dirty="0"/>
              <a:t>Тестирование и мониторинг</a:t>
            </a:r>
          </a:p>
        </p:txBody>
      </p:sp>
      <p:pic>
        <p:nvPicPr>
          <p:cNvPr id="5122" name="Picture 2" descr="Data poisoning attacks during training phase affecting testing phase [17].  | Download Scientific Diagram">
            <a:extLst>
              <a:ext uri="{FF2B5EF4-FFF2-40B4-BE49-F238E27FC236}">
                <a16:creationId xmlns:a16="http://schemas.microsoft.com/office/drawing/2014/main" id="{EE661DF9-BB6F-DD60-45CB-B185580B6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047" y="4383070"/>
            <a:ext cx="5781130" cy="238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216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5B083-7A3B-9FA5-6C91-58CC1C66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LLM05: Improper Output Handling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21F035-2C3B-15CE-1C61-EA6A59ECC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Недостаточная валидация, </a:t>
            </a:r>
            <a:r>
              <a:rPr lang="ru-RU" dirty="0" err="1"/>
              <a:t>санитизация</a:t>
            </a:r>
            <a:r>
              <a:rPr lang="ru-RU" dirty="0"/>
              <a:t> и защита выходных данных LLM может привести к серьезным эксплойтам:</a:t>
            </a:r>
          </a:p>
          <a:p>
            <a:r>
              <a:rPr lang="en-US" dirty="0"/>
              <a:t>Code Injection — </a:t>
            </a:r>
            <a:r>
              <a:rPr lang="ru-RU" dirty="0"/>
              <a:t>выполнение </a:t>
            </a:r>
            <a:r>
              <a:rPr lang="ru-RU" dirty="0" err="1"/>
              <a:t>несанитизированного</a:t>
            </a:r>
            <a:r>
              <a:rPr lang="ru-RU" dirty="0"/>
              <a:t> кода, сгенерированного </a:t>
            </a:r>
            <a:r>
              <a:rPr lang="en-US" dirty="0"/>
              <a:t>LLM</a:t>
            </a:r>
          </a:p>
          <a:p>
            <a:r>
              <a:rPr lang="en-US" dirty="0"/>
              <a:t>XSS-</a:t>
            </a:r>
            <a:r>
              <a:rPr lang="ru-RU" dirty="0"/>
              <a:t>атаки — выполнение </a:t>
            </a:r>
            <a:r>
              <a:rPr lang="en-US" dirty="0"/>
              <a:t>HTML/JavaScript </a:t>
            </a:r>
            <a:r>
              <a:rPr lang="ru-RU" dirty="0"/>
              <a:t>в веб-браузерах</a:t>
            </a:r>
          </a:p>
          <a:p>
            <a:r>
              <a:rPr lang="en-US" dirty="0"/>
              <a:t>SQL Injection — </a:t>
            </a:r>
            <a:r>
              <a:rPr lang="ru-RU" dirty="0"/>
              <a:t>создание запросов к базе данных из вывода </a:t>
            </a:r>
            <a:r>
              <a:rPr lang="en-US" dirty="0"/>
              <a:t>LLM</a:t>
            </a:r>
          </a:p>
          <a:p>
            <a:r>
              <a:rPr lang="en-US" dirty="0"/>
              <a:t>Command Injection — </a:t>
            </a:r>
            <a:r>
              <a:rPr lang="ru-RU" dirty="0"/>
              <a:t>выполнение системных команд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Нулевое доверие к модели – проверяем ответы</a:t>
            </a:r>
          </a:p>
          <a:p>
            <a:r>
              <a:rPr lang="ru-RU" dirty="0"/>
              <a:t>Песочницы для выполнения сгенерированного кода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7053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940F1-CE1E-C82E-B1BE-722C0054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LLM06: Excessive Agency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9DABA-370D-6030-565A-35615F05C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С появлением "года LLM-агентов" многие приложения получают беспрецедентные уровни автономности, что создает новые угрозы безопасности. Типы чрезмерной автономности:</a:t>
            </a:r>
          </a:p>
          <a:p>
            <a:r>
              <a:rPr lang="ru-RU" dirty="0" err="1"/>
              <a:t>Functionality</a:t>
            </a:r>
            <a:r>
              <a:rPr lang="ru-RU" dirty="0"/>
              <a:t> — LLM имеет доступ к большему количеству инструментов, чем необходимо</a:t>
            </a:r>
          </a:p>
          <a:p>
            <a:r>
              <a:rPr lang="ru-RU" dirty="0" err="1"/>
              <a:t>Permissions</a:t>
            </a:r>
            <a:r>
              <a:rPr lang="ru-RU" dirty="0"/>
              <a:t> — LLM работает с повышенными привилегиями</a:t>
            </a:r>
          </a:p>
          <a:p>
            <a:r>
              <a:rPr lang="ru-RU" dirty="0" err="1"/>
              <a:t>Autonomy</a:t>
            </a:r>
            <a:r>
              <a:rPr lang="ru-RU" dirty="0"/>
              <a:t> — LLM принимает решения без соответствующего надзора​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Ролевой контроль доступа (RBAC)</a:t>
            </a:r>
          </a:p>
          <a:p>
            <a:r>
              <a:rPr lang="ru-RU" dirty="0"/>
              <a:t>Принцип наименьших привилегий</a:t>
            </a:r>
          </a:p>
          <a:p>
            <a:r>
              <a:rPr lang="ru-RU" dirty="0"/>
              <a:t>Обязательный человеческий контроль для критических действий</a:t>
            </a:r>
          </a:p>
          <a:p>
            <a:r>
              <a:rPr lang="ru-RU" dirty="0" err="1"/>
              <a:t>Audit</a:t>
            </a:r>
            <a:r>
              <a:rPr lang="ru-RU" dirty="0"/>
              <a:t> </a:t>
            </a:r>
            <a:r>
              <a:rPr lang="ru-RU" dirty="0" err="1"/>
              <a:t>trails</a:t>
            </a:r>
            <a:r>
              <a:rPr lang="ru-RU" dirty="0"/>
              <a:t> для всех действий агента​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4980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A11CD-0516-4544-1B4E-54FC0940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LLM07: System Prompt Leakage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D906A9-87C8-56CF-20C8-57D6259E7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Системные </a:t>
            </a:r>
            <a:r>
              <a:rPr lang="ru-RU" dirty="0" err="1"/>
              <a:t>промпты</a:t>
            </a:r>
            <a:r>
              <a:rPr lang="ru-RU" dirty="0"/>
              <a:t> определяют поведение LLM и его возможности. Если злоумышленник получает эту информацию, это равносильно раскрытию конфиденциального исходного кода приложения.</a:t>
            </a:r>
          </a:p>
          <a:p>
            <a:pPr marL="0" indent="0">
              <a:buNone/>
            </a:pPr>
            <a:r>
              <a:rPr lang="ru-RU" dirty="0"/>
              <a:t>Примеры утечек</a:t>
            </a:r>
          </a:p>
          <a:p>
            <a:r>
              <a:rPr lang="ru-RU" dirty="0"/>
              <a:t>Раскрытие API-ключей — системный </a:t>
            </a:r>
            <a:r>
              <a:rPr lang="ru-RU" dirty="0" err="1"/>
              <a:t>промпт</a:t>
            </a:r>
            <a:r>
              <a:rPr lang="ru-RU" dirty="0"/>
              <a:t> чат-бота содержит API-ключи, которые непреднамеренно утекают​</a:t>
            </a:r>
          </a:p>
          <a:p>
            <a:r>
              <a:rPr lang="ru-RU" dirty="0"/>
              <a:t>Конфиденциальная функциональность — злоумышленники узнают критическую конфиденциальную информацию о внутренних процессах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Никогда не размещайте секреты в системных </a:t>
            </a:r>
            <a:r>
              <a:rPr lang="ru-RU" dirty="0" err="1"/>
              <a:t>промптах</a:t>
            </a:r>
            <a:r>
              <a:rPr lang="ru-RU" dirty="0"/>
              <a:t> — избегайте учетных данных, разрешений, строк данных​</a:t>
            </a:r>
          </a:p>
          <a:p>
            <a:r>
              <a:rPr lang="ru-RU" dirty="0"/>
              <a:t>Регулярный аудит содержимого промптов</a:t>
            </a:r>
          </a:p>
          <a:p>
            <a:r>
              <a:rPr lang="ru-RU" dirty="0"/>
              <a:t>Разделение секретов и инструкций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458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5AE6D-D45F-E31A-F46B-078DCE19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LLM08: Vector and Embedding Weaknesses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553AC4-9674-7047-FF1E-443E2217C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Основные угрозы:</a:t>
            </a:r>
          </a:p>
          <a:p>
            <a:r>
              <a:rPr lang="ru-RU" dirty="0"/>
              <a:t>Неавторизованный доступ к </a:t>
            </a:r>
            <a:r>
              <a:rPr lang="ru-RU" dirty="0" err="1"/>
              <a:t>эмбеддингам</a:t>
            </a:r>
            <a:r>
              <a:rPr lang="ru-RU" dirty="0"/>
              <a:t>.</a:t>
            </a:r>
          </a:p>
          <a:p>
            <a:r>
              <a:rPr lang="ru-RU" dirty="0"/>
              <a:t>Риск утечки контекста между пользователями или запросами в средах, где несколько классов пользователей используют одну векторную базу данных.​</a:t>
            </a:r>
          </a:p>
          <a:p>
            <a:r>
              <a:rPr lang="ru-RU" dirty="0"/>
              <a:t>Внедрение ядовитых векторов для манипуляции выводами модели.​</a:t>
            </a:r>
          </a:p>
          <a:p>
            <a:r>
              <a:rPr lang="ru-RU" dirty="0"/>
              <a:t>Восстановление конфиденциальных данных из векторизованных представлений.​</a:t>
            </a:r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Строгий контроль доступа и разрешений для векторных баз данных</a:t>
            </a:r>
          </a:p>
          <a:p>
            <a:r>
              <a:rPr lang="ru-RU" dirty="0"/>
              <a:t>Валидация данных и источников перед векторизацией</a:t>
            </a:r>
          </a:p>
          <a:p>
            <a:r>
              <a:rPr lang="ru-RU" dirty="0"/>
              <a:t>Мониторинг аномалий в поведении поиска</a:t>
            </a:r>
          </a:p>
          <a:p>
            <a:r>
              <a:rPr lang="ru-RU" dirty="0"/>
              <a:t>Обфускация </a:t>
            </a:r>
            <a:r>
              <a:rPr lang="ru-RU" dirty="0" err="1"/>
              <a:t>эмбеддингов</a:t>
            </a:r>
            <a:r>
              <a:rPr lang="ru-RU" dirty="0"/>
              <a:t> для конфиденциальных данных​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9527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1412E9-A5EF-6FC2-4EA1-FCC791B0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LLM09: Misinformation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3D3508-6378-28F2-9929-19BE8FC09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Причины возникновения дезинформации:</a:t>
            </a:r>
          </a:p>
          <a:p>
            <a:r>
              <a:rPr lang="ru-RU" dirty="0"/>
              <a:t>Неполные данные обучения — LLM заполняют пробелы статистическими паттернами</a:t>
            </a:r>
          </a:p>
          <a:p>
            <a:r>
              <a:rPr lang="ru-RU" dirty="0"/>
              <a:t>Предвзятые данные обучения — отражение предвзятости в выводах</a:t>
            </a:r>
          </a:p>
          <a:p>
            <a:r>
              <a:rPr lang="ru-RU" dirty="0"/>
              <a:t>Алгоритмические ограничения — вероятностное рассуждение без понимания истины</a:t>
            </a:r>
          </a:p>
          <a:p>
            <a:r>
              <a:rPr lang="ru-RU" dirty="0"/>
              <a:t>Неправильная обработка запросов — искажение фактов или намерений​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Стратегии </a:t>
            </a:r>
            <a:r>
              <a:rPr lang="ru-RU" dirty="0" err="1"/>
              <a:t>митигации</a:t>
            </a:r>
            <a:r>
              <a:rPr lang="ru-RU" dirty="0"/>
              <a:t>:</a:t>
            </a:r>
          </a:p>
          <a:p>
            <a:r>
              <a:rPr lang="ru-RU" dirty="0" err="1"/>
              <a:t>Retrieval-Augmented</a:t>
            </a:r>
            <a:r>
              <a:rPr lang="ru-RU" dirty="0"/>
              <a:t> Generation (RAG) — использование верифицированных внешних баз данных​</a:t>
            </a:r>
          </a:p>
          <a:p>
            <a:r>
              <a:rPr lang="ru-RU" dirty="0"/>
              <a:t>Дообучение и </a:t>
            </a:r>
            <a:r>
              <a:rPr lang="ru-RU" dirty="0" err="1"/>
              <a:t>эмбеддинги</a:t>
            </a:r>
            <a:r>
              <a:rPr lang="ru-RU" dirty="0"/>
              <a:t> — улучшение качества вывода через PET и цепочки рассуждений​</a:t>
            </a:r>
          </a:p>
          <a:p>
            <a:r>
              <a:rPr lang="ru-RU" dirty="0"/>
              <a:t>Человеческий контроль — процессы проверки фактов для критической информации​</a:t>
            </a:r>
          </a:p>
          <a:p>
            <a:r>
              <a:rPr lang="ru-RU" dirty="0"/>
              <a:t>Перекрестная проверка — сравнение с доверенными внешними источниками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496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9938-D93D-98B5-EE64-4A9DD4B6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LLM10: Unbounded Consumption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6848D3-2F98-7D62-E890-74105FEBD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err="1"/>
              <a:t>Unbounded</a:t>
            </a:r>
            <a:r>
              <a:rPr lang="ru-RU" dirty="0"/>
              <a:t> </a:t>
            </a:r>
            <a:r>
              <a:rPr lang="ru-RU" dirty="0" err="1"/>
              <a:t>Consumption</a:t>
            </a:r>
            <a:r>
              <a:rPr lang="ru-RU" dirty="0"/>
              <a:t> возникает, когда приложение LLM позволяет пользователям проводить чрезмерные и неконтролируемые </a:t>
            </a:r>
            <a:r>
              <a:rPr lang="ru-RU" dirty="0" err="1"/>
              <a:t>инференсы</a:t>
            </a:r>
            <a:r>
              <a:rPr lang="ru-RU" dirty="0"/>
              <a:t>, что приводит к рискам </a:t>
            </a:r>
            <a:r>
              <a:rPr lang="ru-RU" dirty="0" err="1"/>
              <a:t>DoS</a:t>
            </a:r>
            <a:r>
              <a:rPr lang="ru-RU" dirty="0"/>
              <a:t>, экономическим потерям, краже модели и деградации сервиса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Защита:</a:t>
            </a:r>
          </a:p>
          <a:p>
            <a:r>
              <a:rPr lang="ru-RU" dirty="0"/>
              <a:t>Ограничение скорости (Rate </a:t>
            </a:r>
            <a:r>
              <a:rPr lang="ru-RU" dirty="0" err="1"/>
              <a:t>limiting</a:t>
            </a:r>
            <a:r>
              <a:rPr lang="ru-RU" dirty="0"/>
              <a:t>) — установка максимальных запросов на IP-адрес​</a:t>
            </a:r>
          </a:p>
          <a:p>
            <a:r>
              <a:rPr lang="ru-RU" dirty="0"/>
              <a:t>Многоуровневый доступ — различные выделения ресурсов для пользователей​</a:t>
            </a:r>
          </a:p>
          <a:p>
            <a:r>
              <a:rPr lang="ru-RU" dirty="0"/>
              <a:t>Мониторинг аномалий — обнаружение необычных паттернов потребления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848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1114</Words>
  <Application>Microsoft Office PowerPoint</Application>
  <PresentationFormat>Широкоэкранный</PresentationFormat>
  <Paragraphs>205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Roboto</vt:lpstr>
      <vt:lpstr>Roboto</vt:lpstr>
      <vt:lpstr>Тема Office</vt:lpstr>
      <vt:lpstr>OWASP</vt:lpstr>
      <vt:lpstr>OWASP Top 10 for ML Applications</vt:lpstr>
      <vt:lpstr>ML01:2023 Input Manipulation Attack</vt:lpstr>
      <vt:lpstr>ML02:2023 Data Poisoning Attack</vt:lpstr>
      <vt:lpstr>ML03:2023 Model Inversion Attack</vt:lpstr>
      <vt:lpstr>ML04:2023 Membership Inference Attack</vt:lpstr>
      <vt:lpstr>ML05:2023 Model Theft</vt:lpstr>
      <vt:lpstr>ML06:2023 AI Supply Chain Attacks</vt:lpstr>
      <vt:lpstr>ML07:2023 Transfer Learning Attack</vt:lpstr>
      <vt:lpstr>ML08:2023 Model Skewing</vt:lpstr>
      <vt:lpstr>ML09:2023 Output Integrity Attack</vt:lpstr>
      <vt:lpstr>ML10:2023 Model Poisoning</vt:lpstr>
      <vt:lpstr>А что там с LLM?</vt:lpstr>
      <vt:lpstr>Вспомним, что может пойти не так?</vt:lpstr>
      <vt:lpstr>OWASP Top 10 for LLM Applications</vt:lpstr>
      <vt:lpstr>Презентация PowerPoint</vt:lpstr>
      <vt:lpstr>LLM01: Prompt Injection</vt:lpstr>
      <vt:lpstr>LLM01: Prompt Injection - защита</vt:lpstr>
      <vt:lpstr>LLM02: Sensitive Information Disclosure</vt:lpstr>
      <vt:lpstr>LLM03: Supply Chain Vulnerabilities</vt:lpstr>
      <vt:lpstr>LLM04: Data and Model Poisoning</vt:lpstr>
      <vt:lpstr>LLM05: Improper Output Handling</vt:lpstr>
      <vt:lpstr>LLM06: Excessive Agency</vt:lpstr>
      <vt:lpstr>LLM07: System Prompt Leakage</vt:lpstr>
      <vt:lpstr>LLM08: Vector and Embedding Weaknesses</vt:lpstr>
      <vt:lpstr>LLM09: Misinformation</vt:lpstr>
      <vt:lpstr>LLM10: Unbounded Consumption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Кристина Желтова</dc:creator>
  <cp:lastModifiedBy>Кристина Желтова</cp:lastModifiedBy>
  <cp:revision>50</cp:revision>
  <dcterms:created xsi:type="dcterms:W3CDTF">2023-12-06T20:15:28Z</dcterms:created>
  <dcterms:modified xsi:type="dcterms:W3CDTF">2025-10-14T09:47:51Z</dcterms:modified>
</cp:coreProperties>
</file>