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64" r:id="rId13"/>
    <p:sldId id="276" r:id="rId14"/>
    <p:sldId id="277" r:id="rId15"/>
    <p:sldId id="278" r:id="rId16"/>
    <p:sldId id="279" r:id="rId17"/>
    <p:sldId id="283" r:id="rId18"/>
    <p:sldId id="280" r:id="rId19"/>
    <p:sldId id="281" r:id="rId20"/>
    <p:sldId id="282" r:id="rId21"/>
    <p:sldId id="302" r:id="rId22"/>
    <p:sldId id="306" r:id="rId23"/>
    <p:sldId id="308" r:id="rId24"/>
    <p:sldId id="310" r:id="rId25"/>
    <p:sldId id="355" r:id="rId26"/>
    <p:sldId id="356" r:id="rId27"/>
    <p:sldId id="357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9C41-984C-430D-B71A-1168C933E944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3CCD7-709F-4E7B-AF3B-97B1AC28E2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32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15BC7-57A5-88D2-7D42-38AFE7C34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6F97DF-BC96-4AE1-E2B5-C3432A92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E9FFA4-1D3D-8529-9634-8DE2A209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BF064-046B-EC07-CA7D-196D349C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18CC58-37B5-9C11-A2D6-19D80335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528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1C596-3D8F-92F1-DA4C-DA76EF3F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C3E40-840F-E0F0-0630-15B85910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CB64C5-506C-93E5-1B53-C836D458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7C248E-27F5-8618-24C6-F5A62463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E06D61-8459-B79A-D131-2BF619D6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77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75C78-FE6E-5E14-9F3D-C558A1AA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100960-3EA5-8EC8-F365-292149189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A1EC7F-0704-0115-D2C6-98D811B6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17C82D-3617-C942-D1B9-0FB8AD4B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9BE0AC-2724-4F33-6305-411C0CFB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00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BB79F-6F22-72E3-18F4-ABD46038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AE050-D5F9-2E8B-4A36-2036D8F9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1DD8A6-C372-309A-FDD6-557F30DE1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55B459-B32B-E22F-61A8-D7CEC5B83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EC4559-7E4B-EEAB-BC96-E497C61A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9253CE-C6D9-3075-48A0-FAFA7A6C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42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39645-1A65-0032-0BCC-69C6D20D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49BE06-367D-419D-1194-DA67EB014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E0AF64-11C4-8CE5-600F-BA925770B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9AC4D2-FCB2-9C7D-554D-2628B7A2D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2C267E-04A9-A2C6-0036-B0A0B2EB4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D15985-2871-2339-CCFA-0836FA3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355A714-8E6D-FB87-C186-4F7E7451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695851-0EC6-9691-2258-FA89BD8B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991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00868-C6E2-5219-79BA-44E868EA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1870B7-3D96-1E2D-33C3-C26F8B46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643754-6E8C-FD6E-C739-130E7B64F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9E93B5-AEFA-52A8-86B3-9BFD9C01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12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7053E7-81D8-4FE4-3457-4FA8BDB3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EE00DC-EC0E-1294-B2C8-27B83F9A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1D0D56-1726-A761-4C8C-EF21A03A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14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49A9E-3346-B053-B94B-2B090ABFE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11BFF0-C66F-9A44-EE2A-AF724C423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AE6820-7223-E782-F89E-84C34DD53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69B90E-4126-51CD-BFEA-1F0AF512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4E148E-3343-98BD-5E5A-7DC641D4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27365C-18A1-1189-9058-5B078BF8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68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88EC-8889-87CF-492C-2E89F4CB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EA07C1-A795-AC63-E53A-705E0EA44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C8F72-A5DB-ABFF-8E94-254A31927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4838DE-3622-A3C9-3603-600D07E5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62C9E4-1C63-8411-77F6-BAEAC434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7B70A0-6184-A315-904A-E0F4E383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41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70442-4F52-C562-0D6E-5F8DBABF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8B5E0B-809E-10F0-AAAD-6A021861F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691E40-56C8-CDC2-3EC2-E54DCC6D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333D5-8F5A-E530-033D-24C534A4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916AA-C7B0-131C-BAAB-F01B4F01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17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32E849C-C88F-330F-F618-6525FDC2B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545D75-5592-3AC1-DB77-7192946CD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464D50-80F7-53D3-91B8-2E2AD0F2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4C70A7-2C8E-1F5F-E446-5E1B10E3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7E3E35-C8F9-4EB6-3BC2-0DF7688B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4578C-871D-610C-88E5-5D99126C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6A4277-D84E-06B7-A69F-9EF8BF440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10CC22-0F5A-6B65-DA30-3848BC19F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E5DAB-45A4-4E86-8EEC-0D02A70A5B8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DDD951-BA04-26ED-333A-6238A98C3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A6AF1E-C18D-F68E-0BEB-7686A0F45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4AE3A-2100-4847-9B0F-545E194C6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46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538A9-F17A-716D-8C8A-77438F6BE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9672"/>
            <a:ext cx="9144000" cy="2387600"/>
          </a:xfrm>
        </p:spPr>
        <p:txBody>
          <a:bodyPr>
            <a:normAutofit/>
          </a:bodyPr>
          <a:lstStyle/>
          <a:p>
            <a:r>
              <a:rPr lang="ru-RU" sz="4800" dirty="0"/>
              <a:t>Валидация и тестирование в </a:t>
            </a:r>
            <a:r>
              <a:rPr lang="en-US" sz="4800" dirty="0"/>
              <a:t>ML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15310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3BBE8-80A6-BF61-A5FE-A832D7A0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проверяем?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34438-466E-3C2C-C94C-BBFDCB76D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Качество данных</a:t>
            </a:r>
            <a:endParaRPr lang="en-US" dirty="0"/>
          </a:p>
          <a:p>
            <a:r>
              <a:rPr lang="ru-RU" dirty="0"/>
              <a:t>Качество модели</a:t>
            </a:r>
            <a:endParaRPr lang="en-US" dirty="0"/>
          </a:p>
          <a:p>
            <a:r>
              <a:rPr lang="ru-RU" dirty="0"/>
              <a:t>Качество кода</a:t>
            </a:r>
          </a:p>
          <a:p>
            <a:r>
              <a:rPr lang="ru-RU" dirty="0"/>
              <a:t>Интеграции</a:t>
            </a:r>
          </a:p>
          <a:p>
            <a:r>
              <a:rPr lang="ru-RU" dirty="0"/>
              <a:t>Технические показатели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419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FF58-A347-124D-E740-DC9BEC8F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35EAF-5AF9-9CDE-AD0B-7D11D299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BEB7FA-CD34-32F2-5074-BA5CE3304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373A3C"/>
                </a:solidFill>
                <a:latin typeface="-apple-system"/>
              </a:rPr>
              <a:t>П</a:t>
            </a:r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роблемы с данными могут возникать на трех уровнях: </a:t>
            </a:r>
          </a:p>
          <a:p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Data Source </a:t>
            </a:r>
            <a:r>
              <a:rPr lang="ru-RU" b="0" i="0" dirty="0" err="1">
                <a:solidFill>
                  <a:srgbClr val="373A3C"/>
                </a:solidFill>
                <a:effectLst/>
                <a:latin typeface="-apple-system"/>
              </a:rPr>
              <a:t>Issues</a:t>
            </a:r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 – поступило не то, что ожидаем</a:t>
            </a: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Data Injection Issues </a:t>
            </a:r>
            <a:r>
              <a:rPr lang="ru-RU" dirty="0">
                <a:solidFill>
                  <a:srgbClr val="373A3C"/>
                </a:solidFill>
                <a:latin typeface="-apple-system"/>
              </a:rPr>
              <a:t>- внутренние проблемы в данных</a:t>
            </a: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-apple-system"/>
              </a:rPr>
              <a:t>Referential Integrity Issues </a:t>
            </a:r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- нарушен</a:t>
            </a:r>
            <a:r>
              <a:rPr lang="ru-RU" dirty="0">
                <a:solidFill>
                  <a:srgbClr val="373A3C"/>
                </a:solidFill>
                <a:latin typeface="-apple-system"/>
              </a:rPr>
              <a:t>ии целостности </a:t>
            </a:r>
            <a:endParaRPr lang="en-US" dirty="0">
              <a:solidFill>
                <a:srgbClr val="373A3C"/>
              </a:solidFill>
              <a:latin typeface="-apple-system"/>
            </a:endParaRPr>
          </a:p>
          <a:p>
            <a:endParaRPr lang="en-US" b="0" i="0" dirty="0">
              <a:solidFill>
                <a:srgbClr val="373A3C"/>
              </a:solidFill>
              <a:effectLst/>
              <a:latin typeface="-apple-system"/>
            </a:endParaRPr>
          </a:p>
          <a:p>
            <a:endParaRPr lang="en-US" dirty="0">
              <a:solidFill>
                <a:srgbClr val="373A3C"/>
              </a:solidFill>
              <a:latin typeface="-apple-system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Качество данных - это мера пригодности к использованию. 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373A3C"/>
                </a:solidFill>
                <a:effectLst/>
                <a:latin typeface="-apple-system"/>
              </a:rPr>
              <a:t>Все, что непригодно – не используем.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99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E1FF5-A825-08BB-11B7-3717F1B7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качества данных - </a:t>
            </a:r>
            <a:r>
              <a:rPr lang="en-US" dirty="0"/>
              <a:t>tools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52732-0AAF-63B5-BD8C-B26561F6F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198" y="173899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373A3C"/>
                </a:solidFill>
                <a:latin typeface="-apple-system"/>
              </a:rPr>
              <a:t>Great expectations</a:t>
            </a:r>
            <a:endParaRPr lang="ru-RU" dirty="0"/>
          </a:p>
        </p:txBody>
      </p:sp>
      <p:pic>
        <p:nvPicPr>
          <p:cNvPr id="4100" name="Picture 4" descr="Welcome | Great Expectations">
            <a:extLst>
              <a:ext uri="{FF2B5EF4-FFF2-40B4-BE49-F238E27FC236}">
                <a16:creationId xmlns:a16="http://schemas.microsoft.com/office/drawing/2014/main" id="{EAD00450-B220-EC6B-CB4A-5EEE4623B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948" y="2076342"/>
            <a:ext cx="84201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26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346D7-B106-EAF0-2CBA-F5884AF5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Качество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F7070-183C-13D2-5648-606DC454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Качество модели проверяется на разных этапах ЖЦ</a:t>
            </a:r>
            <a:endParaRPr lang="en-US" dirty="0"/>
          </a:p>
        </p:txBody>
      </p:sp>
      <p:pic>
        <p:nvPicPr>
          <p:cNvPr id="4" name="Google Shape;217;p24">
            <a:extLst>
              <a:ext uri="{FF2B5EF4-FFF2-40B4-BE49-F238E27FC236}">
                <a16:creationId xmlns:a16="http://schemas.microsoft.com/office/drawing/2014/main" id="{DB08B6FD-CC6E-E5C9-D69B-DE5A2A5ADA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2874963"/>
            <a:ext cx="9144000" cy="330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407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19F12-F453-92CF-4098-EFC750F1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схема валидации</a:t>
            </a:r>
          </a:p>
        </p:txBody>
      </p:sp>
      <p:pic>
        <p:nvPicPr>
          <p:cNvPr id="6" name="Google Shape;85;p15">
            <a:extLst>
              <a:ext uri="{FF2B5EF4-FFF2-40B4-BE49-F238E27FC236}">
                <a16:creationId xmlns:a16="http://schemas.microsoft.com/office/drawing/2014/main" id="{36D5BB84-60CF-BA7A-E1C0-BD64FD71098B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57512" y="2134394"/>
            <a:ext cx="6276975" cy="373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188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D9674-760F-5093-F6E4-9DF7E5A4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валидации - 1</a:t>
            </a:r>
          </a:p>
        </p:txBody>
      </p:sp>
      <p:pic>
        <p:nvPicPr>
          <p:cNvPr id="4" name="Google Shape;113;p17">
            <a:extLst>
              <a:ext uri="{FF2B5EF4-FFF2-40B4-BE49-F238E27FC236}">
                <a16:creationId xmlns:a16="http://schemas.microsoft.com/office/drawing/2014/main" id="{533627CF-2DE3-20C5-F63E-78AB0205A9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5215" y="1403652"/>
            <a:ext cx="5780781" cy="234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4;p17">
            <a:extLst>
              <a:ext uri="{FF2B5EF4-FFF2-40B4-BE49-F238E27FC236}">
                <a16:creationId xmlns:a16="http://schemas.microsoft.com/office/drawing/2014/main" id="{98D990B3-A546-7514-CFC1-C8B92DF833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418" y="3952134"/>
            <a:ext cx="6633165" cy="258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17">
            <a:extLst>
              <a:ext uri="{FF2B5EF4-FFF2-40B4-BE49-F238E27FC236}">
                <a16:creationId xmlns:a16="http://schemas.microsoft.com/office/drawing/2014/main" id="{FBDC2FA7-6B62-D3FF-1F74-544BCD6AD6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716" y="569391"/>
            <a:ext cx="4394489" cy="31795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403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1A91A-2362-DBF2-C037-40EABA2A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валидации - 2</a:t>
            </a:r>
          </a:p>
        </p:txBody>
      </p:sp>
      <p:pic>
        <p:nvPicPr>
          <p:cNvPr id="4" name="Google Shape;129;p18">
            <a:extLst>
              <a:ext uri="{FF2B5EF4-FFF2-40B4-BE49-F238E27FC236}">
                <a16:creationId xmlns:a16="http://schemas.microsoft.com/office/drawing/2014/main" id="{3036D9EA-1B9C-B910-95D2-2905C055B0B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682" y="4323901"/>
            <a:ext cx="5475701" cy="2464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0;p18">
            <a:extLst>
              <a:ext uri="{FF2B5EF4-FFF2-40B4-BE49-F238E27FC236}">
                <a16:creationId xmlns:a16="http://schemas.microsoft.com/office/drawing/2014/main" id="{B0A7094A-92BB-0043-6151-607D650E7F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99" y="1680975"/>
            <a:ext cx="5638665" cy="2420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1;p18">
            <a:extLst>
              <a:ext uri="{FF2B5EF4-FFF2-40B4-BE49-F238E27FC236}">
                <a16:creationId xmlns:a16="http://schemas.microsoft.com/office/drawing/2014/main" id="{E8C10AC8-6168-71AB-DCE3-8E2528B554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003459"/>
            <a:ext cx="5875403" cy="41967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44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ADBA1-C66F-5B5A-9E40-0ED72D85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валидации - 3</a:t>
            </a:r>
          </a:p>
        </p:txBody>
      </p:sp>
      <p:pic>
        <p:nvPicPr>
          <p:cNvPr id="4" name="Google Shape;145;p19">
            <a:extLst>
              <a:ext uri="{FF2B5EF4-FFF2-40B4-BE49-F238E27FC236}">
                <a16:creationId xmlns:a16="http://schemas.microsoft.com/office/drawing/2014/main" id="{EFE41CBE-421A-F916-9F66-17490C9CB9C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99917" y="1360272"/>
            <a:ext cx="9652000" cy="505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667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AFBDA-F322-05B1-406B-0E6C7322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валидации - 4</a:t>
            </a:r>
          </a:p>
        </p:txBody>
      </p:sp>
      <p:pic>
        <p:nvPicPr>
          <p:cNvPr id="4" name="Google Shape;159;p20">
            <a:extLst>
              <a:ext uri="{FF2B5EF4-FFF2-40B4-BE49-F238E27FC236}">
                <a16:creationId xmlns:a16="http://schemas.microsoft.com/office/drawing/2014/main" id="{127154FB-6C8F-D1E5-690A-8BAF00DB533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9714" y="1825625"/>
            <a:ext cx="10232572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062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02DEE-553A-2308-6469-2DC476BFB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Схемы валидации - 5</a:t>
            </a:r>
          </a:p>
        </p:txBody>
      </p:sp>
      <p:pic>
        <p:nvPicPr>
          <p:cNvPr id="4" name="Google Shape;173;p21">
            <a:extLst>
              <a:ext uri="{FF2B5EF4-FFF2-40B4-BE49-F238E27FC236}">
                <a16:creationId xmlns:a16="http://schemas.microsoft.com/office/drawing/2014/main" id="{C13E9BE4-AAD3-29C0-C6C4-A7714F6681A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6233" y="2445123"/>
            <a:ext cx="7779534" cy="404775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75;p21">
            <a:extLst>
              <a:ext uri="{FF2B5EF4-FFF2-40B4-BE49-F238E27FC236}">
                <a16:creationId xmlns:a16="http://schemas.microsoft.com/office/drawing/2014/main" id="{A69AB0C4-7F3E-0001-4E88-7D5571817648}"/>
              </a:ext>
            </a:extLst>
          </p:cNvPr>
          <p:cNvSpPr txBox="1"/>
          <p:nvPr/>
        </p:nvSpPr>
        <p:spPr>
          <a:xfrm>
            <a:off x="3118278" y="1829991"/>
            <a:ext cx="6196800" cy="475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00" tIns="52733" rIns="105500" bIns="52733" anchor="t" anchorCtr="0">
            <a:spAutoFit/>
          </a:bodyPr>
          <a:lstStyle/>
          <a:p>
            <a:r>
              <a:rPr lang="ru" sz="1200" dirty="0">
                <a:solidFill>
                  <a:srgbClr val="1C3D94"/>
                </a:solidFill>
                <a:highlight>
                  <a:schemeClr val="lt1"/>
                </a:highlight>
              </a:rPr>
              <a:t>«Все связано со всем остальным, но близкие вещи связаны больше, чем далекие».</a:t>
            </a:r>
            <a:endParaRPr sz="1200" dirty="0">
              <a:solidFill>
                <a:srgbClr val="1C3D94"/>
              </a:solidFill>
              <a:highlight>
                <a:schemeClr val="lt1"/>
              </a:highlight>
            </a:endParaRPr>
          </a:p>
          <a:p>
            <a:pPr marL="609585" algn="ctr"/>
            <a:endParaRPr sz="1200" dirty="0">
              <a:solidFill>
                <a:srgbClr val="1C3D94"/>
              </a:solidFill>
              <a:highlight>
                <a:schemeClr val="l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670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5AF0D-11DF-8713-63A4-71EDEAC7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схемы валидации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BC3B7D-927C-260D-6E1F-8EE922CD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Схема валидации должна отражать, как модель будет использоваться в проде</a:t>
            </a:r>
          </a:p>
          <a:p>
            <a:r>
              <a:rPr lang="ru-RU" dirty="0"/>
              <a:t>Не используйте одни и те же данные для подбора </a:t>
            </a:r>
            <a:r>
              <a:rPr lang="ru-RU" dirty="0" err="1"/>
              <a:t>гипер</a:t>
            </a:r>
            <a:r>
              <a:rPr lang="ru-RU" dirty="0"/>
              <a:t>-параметров и оценки</a:t>
            </a:r>
          </a:p>
          <a:p>
            <a:r>
              <a:rPr lang="ru-RU" dirty="0"/>
              <a:t>Некоторые домены требуют особых схем валидации</a:t>
            </a:r>
          </a:p>
          <a:p>
            <a:r>
              <a:rPr lang="ru-RU" dirty="0"/>
              <a:t>В некоторых задачах важно также группировать объекты (например, по </a:t>
            </a:r>
            <a:r>
              <a:rPr lang="ru-RU" dirty="0" err="1"/>
              <a:t>id</a:t>
            </a:r>
            <a:r>
              <a:rPr lang="ru-RU" dirty="0"/>
              <a:t> клиента)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81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2A4A1-2F18-DBC4-7800-6818C3C7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Бейзлайны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EAE02-CD5A-257C-F215-E8CF9C1E6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5352" cy="4104120"/>
          </a:xfrm>
        </p:spPr>
        <p:txBody>
          <a:bodyPr>
            <a:normAutofit/>
          </a:bodyPr>
          <a:lstStyle/>
          <a:p>
            <a:r>
              <a:rPr lang="ru-RU" dirty="0" err="1"/>
              <a:t>Dummy-бейзлайны</a:t>
            </a:r>
            <a:r>
              <a:rPr lang="ru-RU" dirty="0"/>
              <a:t>: </a:t>
            </a:r>
          </a:p>
          <a:p>
            <a:pPr lvl="1"/>
            <a:r>
              <a:rPr lang="ru-RU" dirty="0"/>
              <a:t>мода/случайный класс…</a:t>
            </a:r>
          </a:p>
          <a:p>
            <a:pPr lvl="1"/>
            <a:r>
              <a:rPr lang="ru-RU" dirty="0"/>
              <a:t>медиана/среднее</a:t>
            </a:r>
          </a:p>
          <a:p>
            <a:pPr lvl="1"/>
            <a:r>
              <a:rPr lang="ru-RU" dirty="0"/>
              <a:t>наивный/сезонный наивный прогноз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Эвристики</a:t>
            </a:r>
          </a:p>
          <a:p>
            <a:r>
              <a:rPr lang="ru-RU" dirty="0"/>
              <a:t>Текущее не-ML решение</a:t>
            </a:r>
          </a:p>
          <a:p>
            <a:r>
              <a:rPr lang="ru-RU" dirty="0" err="1"/>
              <a:t>Бейзлайн</a:t>
            </a:r>
            <a:r>
              <a:rPr lang="ru-RU" dirty="0"/>
              <a:t>-модели - находим предел и итеративно улучшаем решение</a:t>
            </a:r>
          </a:p>
          <a:p>
            <a:endParaRPr lang="ru-RU" dirty="0"/>
          </a:p>
        </p:txBody>
      </p:sp>
      <p:pic>
        <p:nvPicPr>
          <p:cNvPr id="5" name="Google Shape;248;p26">
            <a:extLst>
              <a:ext uri="{FF2B5EF4-FFF2-40B4-BE49-F238E27FC236}">
                <a16:creationId xmlns:a16="http://schemas.microsoft.com/office/drawing/2014/main" id="{1EFDBA18-02FB-1631-B85A-37F2329BE14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1164" y="1953639"/>
            <a:ext cx="4985611" cy="2950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180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F7C28-FCF4-2243-EE45-D87E347C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тесты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FD395-0E43-5B05-BCED-3EC6C47F0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Perturbation test – </a:t>
            </a:r>
            <a:r>
              <a:rPr lang="ru-RU" dirty="0"/>
              <a:t>насколько модель чувствительна к шуму?</a:t>
            </a:r>
          </a:p>
          <a:p>
            <a:r>
              <a:rPr lang="en-US" dirty="0"/>
              <a:t>Invariant test – </a:t>
            </a:r>
            <a:r>
              <a:rPr lang="ru-RU" dirty="0"/>
              <a:t>что не должно поменять предсказание модели?</a:t>
            </a:r>
          </a:p>
          <a:p>
            <a:r>
              <a:rPr lang="en-US" dirty="0"/>
              <a:t>Directional Expectations test -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633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3523-B946-59D7-610F-C9948E75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38782-4347-02CD-6F45-5F7EBDEB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для кодовой базы</a:t>
            </a:r>
          </a:p>
        </p:txBody>
      </p:sp>
      <p:pic>
        <p:nvPicPr>
          <p:cNvPr id="1026" name="Picture 2" descr="Автоматизированное тестирование. Уровни пирамиды Кона — Лаборатория Качества">
            <a:extLst>
              <a:ext uri="{FF2B5EF4-FFF2-40B4-BE49-F238E27FC236}">
                <a16:creationId xmlns:a16="http://schemas.microsoft.com/office/drawing/2014/main" id="{BC7AA2F7-F5AE-E4B9-46DD-795F506622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258219"/>
            <a:ext cx="571500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586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C6B6-3C76-43CE-65D1-046ABD3F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D7C45-F511-9DFB-380A-166CBC36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для кодовой базы - </a:t>
            </a:r>
            <a:r>
              <a:rPr lang="en-US" dirty="0"/>
              <a:t>tools</a:t>
            </a:r>
            <a:endParaRPr lang="ru-RU" dirty="0"/>
          </a:p>
        </p:txBody>
      </p:sp>
      <p:pic>
        <p:nvPicPr>
          <p:cNvPr id="5122" name="Picture 2" descr="Python Unit Testing Tools">
            <a:extLst>
              <a:ext uri="{FF2B5EF4-FFF2-40B4-BE49-F238E27FC236}">
                <a16:creationId xmlns:a16="http://schemas.microsoft.com/office/drawing/2014/main" id="{3430C3FC-FD8A-DB6C-A2DD-676E1D210E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659" y="1864126"/>
            <a:ext cx="519068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2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332B-6D0D-9A0F-4DF2-A7402F07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4E397-39FB-B751-A8F9-3F732309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</a:t>
            </a:r>
            <a:r>
              <a:rPr lang="en-US" dirty="0"/>
              <a:t>- Best practices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B00D1F-3519-B821-070A-0D7A4517D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086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spcBef>
                <a:spcPts val="240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Используйте покрытие кода как ориентир для нахождения неохваченных тестами участков, но не стремитесь к 100% покрытию без необходимости.</a:t>
            </a:r>
          </a:p>
          <a:p>
            <a:pPr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Сосредоточьтесь на создании тестов, которые проверяют важные аспекты функциональности и критические пути.</a:t>
            </a:r>
          </a:p>
          <a:p>
            <a:pPr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Рассматривайте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coverage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как одну из метрик в совокупности с другими подходами тестирования, такими как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unit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integration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smoke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mutation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tests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lvl="1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7616A5-53CC-10D7-4241-68AF18B9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073" y="1825625"/>
            <a:ext cx="383911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84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4B522-54BB-2813-CD58-6039D85A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</a:t>
            </a:r>
            <a:r>
              <a:rPr lang="en-US" dirty="0"/>
              <a:t>- Best practices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062292-8E44-D4CD-48ED-5B260EE6A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27257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Одна из лучших практик тестирования — добавление нового теста каждый раз, когда обнаруживается баг.</a:t>
            </a:r>
          </a:p>
          <a:p>
            <a:pPr marL="0" indent="0">
              <a:buNone/>
            </a:pPr>
            <a:r>
              <a:rPr lang="ru-RU" dirty="0"/>
              <a:t>Также не стоит забывать про регрессионное тестирование</a:t>
            </a:r>
          </a:p>
        </p:txBody>
      </p:sp>
      <p:pic>
        <p:nvPicPr>
          <p:cNvPr id="2050" name="Picture 2" descr="Как сократить сроки регрессионного тестирования с 3 до 1 дня? — Лаборатория  Качества">
            <a:extLst>
              <a:ext uri="{FF2B5EF4-FFF2-40B4-BE49-F238E27FC236}">
                <a16:creationId xmlns:a16="http://schemas.microsoft.com/office/drawing/2014/main" id="{A9C6C92B-622F-4562-0F1C-951093D37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541" y="2578100"/>
            <a:ext cx="385762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198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75D02-DAFC-6302-2E26-A9560A1E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</a:t>
            </a:r>
            <a:r>
              <a:rPr lang="en-US" dirty="0"/>
              <a:t>- Best practices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A2A47-D24B-8EC2-D45F-1D903DDC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Интеграция тестов в CI/CD </a:t>
            </a:r>
            <a:r>
              <a:rPr lang="ru-RU" dirty="0" err="1"/>
              <a:t>пайплайн</a:t>
            </a:r>
            <a:r>
              <a:rPr lang="ru-RU" dirty="0"/>
              <a:t> — ключевая практика, позволяющая поддерживать высокое качество кода. </a:t>
            </a:r>
          </a:p>
        </p:txBody>
      </p:sp>
      <p:pic>
        <p:nvPicPr>
          <p:cNvPr id="3074" name="Picture 2" descr="CI/CD for Machine Learning - MLOps Guide">
            <a:extLst>
              <a:ext uri="{FF2B5EF4-FFF2-40B4-BE49-F238E27FC236}">
                <a16:creationId xmlns:a16="http://schemas.microsoft.com/office/drawing/2014/main" id="{B374724B-7840-3B7D-1F9E-07C3279A7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046" y="3429000"/>
            <a:ext cx="5723908" cy="299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619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400CB-5546-0B07-ECC3-18B22B0B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 </a:t>
            </a:r>
            <a:r>
              <a:rPr lang="en-US" dirty="0"/>
              <a:t>- Best practices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F8D5C1-49D6-71F5-803E-1E52B7B9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 тестировании важно учитывать позитивные и негативные тесты. </a:t>
            </a:r>
            <a:endParaRPr lang="en-US" dirty="0"/>
          </a:p>
          <a:p>
            <a:r>
              <a:rPr lang="ru-RU" dirty="0"/>
              <a:t>Позитивные тесты (</a:t>
            </a:r>
            <a:r>
              <a:rPr lang="ru-RU" dirty="0" err="1"/>
              <a:t>positive</a:t>
            </a:r>
            <a:r>
              <a:rPr lang="ru-RU" dirty="0"/>
              <a:t> </a:t>
            </a:r>
            <a:r>
              <a:rPr lang="ru-RU" dirty="0" err="1"/>
              <a:t>tests</a:t>
            </a:r>
            <a:r>
              <a:rPr lang="ru-RU" dirty="0"/>
              <a:t>) проверяют, что система работает корректно в "оптимистичных" сценариях, когда все данные валидны и все идет по плану</a:t>
            </a:r>
            <a:endParaRPr lang="en-US" dirty="0"/>
          </a:p>
          <a:p>
            <a:r>
              <a:rPr lang="ru-RU" dirty="0"/>
              <a:t>Негативные тесты (</a:t>
            </a:r>
            <a:r>
              <a:rPr lang="ru-RU" dirty="0" err="1"/>
              <a:t>negative</a:t>
            </a:r>
            <a:r>
              <a:rPr lang="ru-RU" dirty="0"/>
              <a:t> </a:t>
            </a:r>
            <a:r>
              <a:rPr lang="ru-RU" dirty="0" err="1"/>
              <a:t>tests</a:t>
            </a:r>
            <a:r>
              <a:rPr lang="ru-RU" dirty="0"/>
              <a:t>) проверяют поведение системы в условиях ошибок и отклонений. </a:t>
            </a:r>
          </a:p>
        </p:txBody>
      </p:sp>
    </p:spTree>
    <p:extLst>
      <p:ext uri="{BB962C8B-B14F-4D97-AF65-F5344CB8AC3E}">
        <p14:creationId xmlns:p14="http://schemas.microsoft.com/office/powerpoint/2010/main" val="532834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69E4-9F33-D551-3AE0-9652BFF1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D7C8D-0A4F-D356-A3FC-8DB6B909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 чего состоит </a:t>
            </a:r>
            <a:r>
              <a:rPr lang="en-US" dirty="0"/>
              <a:t>ML-</a:t>
            </a:r>
            <a:r>
              <a:rPr lang="ru-RU" dirty="0"/>
              <a:t>система?</a:t>
            </a:r>
          </a:p>
        </p:txBody>
      </p:sp>
      <p:pic>
        <p:nvPicPr>
          <p:cNvPr id="4" name="Объект 18">
            <a:extLst>
              <a:ext uri="{FF2B5EF4-FFF2-40B4-BE49-F238E27FC236}">
                <a16:creationId xmlns:a16="http://schemas.microsoft.com/office/drawing/2014/main" id="{AB204F34-EB13-48B6-53C6-34B1CD9D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442" y="1844694"/>
            <a:ext cx="6043119" cy="374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629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8ABF-ADC4-403F-BDDA-89F952F8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9A41-F1EE-1D2B-DAD6-967AD026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Мониторинг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10D061-9BD0-B744-1691-27B7751EC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3069" y="1825625"/>
            <a:ext cx="4240731" cy="4351339"/>
          </a:xfrm>
        </p:spPr>
        <p:txBody>
          <a:bodyPr/>
          <a:lstStyle/>
          <a:p>
            <a:r>
              <a:rPr lang="ru-RU" dirty="0"/>
              <a:t>Логирование (входные данные, предсказания).</a:t>
            </a:r>
          </a:p>
          <a:p>
            <a:r>
              <a:rPr lang="ru-RU" dirty="0"/>
              <a:t>Мониторинг дрейфа данных (Data </a:t>
            </a:r>
            <a:r>
              <a:rPr lang="ru-RU" dirty="0" err="1"/>
              <a:t>Drift</a:t>
            </a:r>
            <a:r>
              <a:rPr lang="ru-RU" dirty="0"/>
              <a:t>) и деградации модели.</a:t>
            </a:r>
          </a:p>
          <a:p>
            <a:r>
              <a:rPr lang="ru-RU" dirty="0"/>
              <a:t>Система </a:t>
            </a:r>
            <a:r>
              <a:rPr lang="ru-RU" dirty="0" err="1"/>
              <a:t>алертов</a:t>
            </a:r>
            <a:r>
              <a:rPr lang="ru-RU" dirty="0"/>
              <a:t> и переобучение.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9E013A9-5D7C-25B5-8449-C3F8F7DE7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407" y="1825626"/>
            <a:ext cx="6129957" cy="34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666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8E85-6873-5F86-D649-4DD0BDF2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5A73D-3893-428F-A853-81B31318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Пирамида мониторинга</a:t>
            </a:r>
          </a:p>
        </p:txBody>
      </p:sp>
      <p:pic>
        <p:nvPicPr>
          <p:cNvPr id="13314" name="Picture 2" descr="мл мониторинг">
            <a:extLst>
              <a:ext uri="{FF2B5EF4-FFF2-40B4-BE49-F238E27FC236}">
                <a16:creationId xmlns:a16="http://schemas.microsoft.com/office/drawing/2014/main" id="{E566B77D-0600-06B8-4CDB-94C61C8E6E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890" y="1825625"/>
            <a:ext cx="9162223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A79A7-EBCF-5791-3F33-FAD718E8BD00}"/>
              </a:ext>
            </a:extLst>
          </p:cNvPr>
          <p:cNvSpPr txBox="1"/>
          <p:nvPr/>
        </p:nvSpPr>
        <p:spPr>
          <a:xfrm>
            <a:off x="2066499" y="6127236"/>
            <a:ext cx="6304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Пирамида описывает иерархию мониторинга, но не отвечает на вопрос «как?».</a:t>
            </a:r>
          </a:p>
        </p:txBody>
      </p:sp>
    </p:spTree>
    <p:extLst>
      <p:ext uri="{BB962C8B-B14F-4D97-AF65-F5344CB8AC3E}">
        <p14:creationId xmlns:p14="http://schemas.microsoft.com/office/powerpoint/2010/main" val="4070460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04AD-3597-EA8B-F722-89ADB535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AFBA94-AE98-C49B-6D9E-9D7C357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Операционный мониторинг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67605-E22B-37FF-0D6C-C4702F72A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Операционный мониторинг – такой же как в любой </a:t>
            </a:r>
            <a:r>
              <a:rPr lang="en-US" dirty="0"/>
              <a:t>IT-</a:t>
            </a:r>
            <a:r>
              <a:rPr lang="ru-RU" dirty="0"/>
              <a:t>системе</a:t>
            </a:r>
          </a:p>
          <a:p>
            <a:r>
              <a:rPr lang="ru-RU" dirty="0"/>
              <a:t>Метрики использования сервиса – </a:t>
            </a:r>
            <a:r>
              <a:rPr lang="en-US" dirty="0"/>
              <a:t>RPS, Error Rates</a:t>
            </a:r>
          </a:p>
          <a:p>
            <a:r>
              <a:rPr lang="ru-RU" dirty="0"/>
              <a:t>Производительность системы - </a:t>
            </a:r>
            <a:r>
              <a:rPr lang="en-US" dirty="0"/>
              <a:t>p90 </a:t>
            </a:r>
            <a:r>
              <a:rPr lang="ru-RU" dirty="0"/>
              <a:t>/</a:t>
            </a:r>
            <a:r>
              <a:rPr lang="en-US" dirty="0"/>
              <a:t> p99 latency</a:t>
            </a:r>
            <a:endParaRPr lang="ru-RU" dirty="0"/>
          </a:p>
          <a:p>
            <a:r>
              <a:rPr lang="ru-RU" dirty="0"/>
              <a:t>Утилизация ресурсов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0352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94619-65C3-41E8-715F-51E6D5C2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1A053-1409-A5F0-B894-EEA0007C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Мониторинг данных – </a:t>
            </a:r>
            <a:r>
              <a:rPr lang="en-US" dirty="0"/>
              <a:t>Data Quality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21193-1E15-6AC7-1566-2B6F3BB1F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37985" cy="4351339"/>
          </a:xfrm>
        </p:spPr>
        <p:txBody>
          <a:bodyPr>
            <a:normAutofit/>
          </a:bodyPr>
          <a:lstStyle/>
          <a:p>
            <a:r>
              <a:rPr lang="ru-RU" dirty="0"/>
              <a:t>Изменения схемы данных</a:t>
            </a:r>
          </a:p>
          <a:p>
            <a:r>
              <a:rPr lang="ru-RU" dirty="0"/>
              <a:t>Отсутствующие данные</a:t>
            </a:r>
          </a:p>
          <a:p>
            <a:r>
              <a:rPr lang="ru-RU" dirty="0"/>
              <a:t>Статистики отдельных атрибутов</a:t>
            </a:r>
          </a:p>
          <a:p>
            <a:r>
              <a:rPr lang="ru-RU" dirty="0"/>
              <a:t>Ограничения на типы данных</a:t>
            </a:r>
          </a:p>
          <a:p>
            <a:r>
              <a:rPr lang="ru-RU" dirty="0"/>
              <a:t>Ограничения на диапазоны признаков</a:t>
            </a:r>
            <a:endParaRPr lang="en-US" dirty="0"/>
          </a:p>
          <a:p>
            <a:r>
              <a:rPr lang="ru-RU" dirty="0"/>
              <a:t>Аномалии в данных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A121193-1E15-6AC7-1566-2B6F3BB1FA88}"/>
              </a:ext>
            </a:extLst>
          </p:cNvPr>
          <p:cNvSpPr txBox="1">
            <a:spLocks/>
          </p:cNvSpPr>
          <p:nvPr/>
        </p:nvSpPr>
        <p:spPr>
          <a:xfrm>
            <a:off x="7961136" y="4001294"/>
            <a:ext cx="3392664" cy="217566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Изменения схемы данных</a:t>
            </a:r>
          </a:p>
          <a:p>
            <a:r>
              <a:rPr lang="ru-RU"/>
              <a:t>Отсутствующие данные</a:t>
            </a:r>
          </a:p>
          <a:p>
            <a:r>
              <a:rPr lang="ru-RU"/>
              <a:t>Статистики отдельных атрибутов</a:t>
            </a:r>
          </a:p>
          <a:p>
            <a:r>
              <a:rPr lang="ru-RU"/>
              <a:t>Ограничения на типы данных</a:t>
            </a:r>
          </a:p>
          <a:p>
            <a:r>
              <a:rPr lang="ru-RU"/>
              <a:t>Ограничения на диапазоны признаков</a:t>
            </a:r>
            <a:endParaRPr lang="en-US"/>
          </a:p>
          <a:p>
            <a:r>
              <a:rPr lang="ru-RU"/>
              <a:t>Аномалии в данных</a:t>
            </a:r>
            <a:endParaRPr lang="ru-RU" dirty="0"/>
          </a:p>
        </p:txBody>
      </p:sp>
      <p:pic>
        <p:nvPicPr>
          <p:cNvPr id="6" name="Picture 2" descr="Evidently 0.1.46: Evaluating and monitoring data quality for ML models.">
            <a:extLst>
              <a:ext uri="{FF2B5EF4-FFF2-40B4-BE49-F238E27FC236}">
                <a16:creationId xmlns:a16="http://schemas.microsoft.com/office/drawing/2014/main" id="{BBE7C580-1DF7-D3F2-C024-6B0691FAC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58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2F8D-AFCE-5BA3-B381-D44C0894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68760-3B15-60A4-9DDD-D1DF20030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Мониторинг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0B912-574C-7833-5684-6C928EB15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Причины деградации модели:</a:t>
            </a:r>
          </a:p>
          <a:p>
            <a:r>
              <a:rPr lang="en-US" dirty="0"/>
              <a:t>Data-drift</a:t>
            </a:r>
          </a:p>
          <a:p>
            <a:r>
              <a:rPr lang="en-US" dirty="0"/>
              <a:t>Concept-drift</a:t>
            </a:r>
          </a:p>
          <a:p>
            <a:endParaRPr lang="en-US" dirty="0"/>
          </a:p>
          <a:p>
            <a:r>
              <a:rPr lang="ru-RU" dirty="0"/>
              <a:t>Метрики модели</a:t>
            </a:r>
          </a:p>
          <a:p>
            <a:r>
              <a:rPr lang="ru-RU" dirty="0"/>
              <a:t>Качество по сегментам</a:t>
            </a:r>
          </a:p>
          <a:p>
            <a:r>
              <a:rPr lang="ru-RU" dirty="0"/>
              <a:t>Распределение предсказаний</a:t>
            </a:r>
          </a:p>
          <a:p>
            <a:r>
              <a:rPr lang="ru-RU" dirty="0"/>
              <a:t>Распределение входов</a:t>
            </a:r>
          </a:p>
          <a:p>
            <a:r>
              <a:rPr lang="en-US" dirty="0"/>
              <a:t>Data-fairness</a:t>
            </a:r>
            <a:endParaRPr lang="ru-RU" dirty="0"/>
          </a:p>
        </p:txBody>
      </p:sp>
      <p:pic>
        <p:nvPicPr>
          <p:cNvPr id="25602" name="Picture 2" descr="What is the difference between data drift and concept drift?">
            <a:extLst>
              <a:ext uri="{FF2B5EF4-FFF2-40B4-BE49-F238E27FC236}">
                <a16:creationId xmlns:a16="http://schemas.microsoft.com/office/drawing/2014/main" id="{402DAB7B-FF04-4678-D5AE-84B8064D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749" y="1685057"/>
            <a:ext cx="4807819" cy="480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799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6D94-017E-783C-9D5E-4626005D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CC3B3-2909-6381-9740-135A3136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Бизнес-метрики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6F69EE-ACB4-A244-FA99-4B1E9AFC2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8574" y="1812825"/>
            <a:ext cx="4375484" cy="4351339"/>
          </a:xfrm>
        </p:spPr>
        <p:txBody>
          <a:bodyPr>
            <a:normAutofit/>
          </a:bodyPr>
          <a:lstStyle/>
          <a:p>
            <a:r>
              <a:rPr lang="ru-RU" dirty="0"/>
              <a:t>Прямые бизнес-</a:t>
            </a:r>
            <a:r>
              <a:rPr lang="en-US" dirty="0"/>
              <a:t>KPI</a:t>
            </a:r>
            <a:endParaRPr lang="ru-RU" dirty="0"/>
          </a:p>
          <a:p>
            <a:r>
              <a:rPr lang="ru-RU" dirty="0"/>
              <a:t>Прокси-метрики</a:t>
            </a:r>
          </a:p>
          <a:p>
            <a:r>
              <a:rPr lang="ru-RU" dirty="0"/>
              <a:t>Результаты </a:t>
            </a:r>
            <a:r>
              <a:rPr lang="en-US" dirty="0"/>
              <a:t>A/B </a:t>
            </a:r>
            <a:r>
              <a:rPr lang="ru-RU" dirty="0"/>
              <a:t>тестов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C0C550-FA24-CC8D-02D8-ADCC1ED9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5" y="1825626"/>
            <a:ext cx="6168368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102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547</Words>
  <Application>Microsoft Office PowerPoint</Application>
  <PresentationFormat>Широкоэкранный</PresentationFormat>
  <Paragraphs>104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-apple-system</vt:lpstr>
      <vt:lpstr>Arial</vt:lpstr>
      <vt:lpstr>Calibri</vt:lpstr>
      <vt:lpstr>Calibri Light</vt:lpstr>
      <vt:lpstr>Тема Office</vt:lpstr>
      <vt:lpstr>Валидация и тестирование в ML</vt:lpstr>
      <vt:lpstr>Что проверяем?</vt:lpstr>
      <vt:lpstr>Проблемы с данными</vt:lpstr>
      <vt:lpstr>Проверка качества данных - tools</vt:lpstr>
      <vt:lpstr>Качество модели</vt:lpstr>
      <vt:lpstr>Общая схема валидации</vt:lpstr>
      <vt:lpstr>Схемы валидации - 1</vt:lpstr>
      <vt:lpstr>Схемы валидации - 2</vt:lpstr>
      <vt:lpstr>Схемы валидации - 3</vt:lpstr>
      <vt:lpstr>Схемы валидации - 4</vt:lpstr>
      <vt:lpstr>Схемы валидации - 5</vt:lpstr>
      <vt:lpstr>Выбор схемы валидации</vt:lpstr>
      <vt:lpstr>Бейзлайны</vt:lpstr>
      <vt:lpstr>Дополнительные тесты</vt:lpstr>
      <vt:lpstr>Тесты для кодовой базы</vt:lpstr>
      <vt:lpstr>Тесты для кодовой базы - tools</vt:lpstr>
      <vt:lpstr>Тесты - Best practices</vt:lpstr>
      <vt:lpstr>Тесты - Best practices </vt:lpstr>
      <vt:lpstr>Тесты - Best practices </vt:lpstr>
      <vt:lpstr>Тесты - Best practices </vt:lpstr>
      <vt:lpstr>Из чего состоит ML-система?</vt:lpstr>
      <vt:lpstr>Мониторинг</vt:lpstr>
      <vt:lpstr>Пирамида мониторинга</vt:lpstr>
      <vt:lpstr>Операционный мониторинг</vt:lpstr>
      <vt:lpstr>Мониторинг данных – Data Quality</vt:lpstr>
      <vt:lpstr>Мониторинг модели</vt:lpstr>
      <vt:lpstr>Бизнес-метрики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Кристина Желтова</dc:creator>
  <cp:lastModifiedBy>Кристина Желтова</cp:lastModifiedBy>
  <cp:revision>18</cp:revision>
  <dcterms:created xsi:type="dcterms:W3CDTF">2024-11-27T15:37:11Z</dcterms:created>
  <dcterms:modified xsi:type="dcterms:W3CDTF">2025-10-21T09:30:31Z</dcterms:modified>
</cp:coreProperties>
</file>