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315" r:id="rId5"/>
    <p:sldId id="307" r:id="rId6"/>
    <p:sldId id="308" r:id="rId7"/>
    <p:sldId id="310" r:id="rId8"/>
    <p:sldId id="309" r:id="rId9"/>
    <p:sldId id="311" r:id="rId10"/>
    <p:sldId id="312" r:id="rId11"/>
    <p:sldId id="313" r:id="rId12"/>
    <p:sldId id="314" r:id="rId13"/>
    <p:sldId id="259" r:id="rId14"/>
    <p:sldId id="262" r:id="rId15"/>
    <p:sldId id="263" r:id="rId16"/>
    <p:sldId id="317" r:id="rId17"/>
    <p:sldId id="318" r:id="rId18"/>
    <p:sldId id="319" r:id="rId19"/>
    <p:sldId id="320" r:id="rId20"/>
    <p:sldId id="321" r:id="rId21"/>
    <p:sldId id="322" r:id="rId22"/>
    <p:sldId id="324" r:id="rId23"/>
    <p:sldId id="265" r:id="rId24"/>
    <p:sldId id="267" r:id="rId25"/>
    <p:sldId id="268" r:id="rId26"/>
    <p:sldId id="272" r:id="rId27"/>
    <p:sldId id="273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ACBCAF72-2B27-4567-BAAB-650E87826B9B}">
          <p14:sldIdLst>
            <p14:sldId id="256"/>
            <p14:sldId id="257"/>
          </p14:sldIdLst>
        </p14:section>
        <p14:section name="Жизненный цикл ML-решения" id="{E56BAD57-C764-48BE-8439-8B0AD663E776}">
          <p14:sldIdLst>
            <p14:sldId id="258"/>
            <p14:sldId id="315"/>
            <p14:sldId id="307"/>
            <p14:sldId id="308"/>
            <p14:sldId id="310"/>
            <p14:sldId id="309"/>
            <p14:sldId id="311"/>
            <p14:sldId id="312"/>
            <p14:sldId id="313"/>
            <p14:sldId id="314"/>
          </p14:sldIdLst>
        </p14:section>
        <p14:section name="Типы задач в ML" id="{E4057F43-89B7-4D58-A641-6AFEAC5E0806}">
          <p14:sldIdLst>
            <p14:sldId id="259"/>
            <p14:sldId id="262"/>
            <p14:sldId id="263"/>
            <p14:sldId id="317"/>
            <p14:sldId id="318"/>
            <p14:sldId id="319"/>
            <p14:sldId id="320"/>
          </p14:sldIdLst>
        </p14:section>
        <p14:section name="ML в информационной безопасности" id="{DCF06E9F-97A8-47A1-89BD-2F43728FA4C6}">
          <p14:sldIdLst>
            <p14:sldId id="321"/>
            <p14:sldId id="322"/>
            <p14:sldId id="324"/>
            <p14:sldId id="265"/>
            <p14:sldId id="267"/>
            <p14:sldId id="268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E40D8-E51B-425C-85B9-78661873A64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CBE17-81A4-4964-971B-CF35BB9BB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100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Вводный слайд лекции 01: связываем жизненный цикл ML, типологию задач и домен ИБ.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0042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Сначала общий ML, затем домен ИБ как прикладной раздел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56282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Раздел: Жизненный цикл ML-решения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56478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1CA1-EE40-A052-46D3-7B990A9AF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D2205BC-665A-78FC-7ED1-C45A8F8C4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1CAE0B-3D63-FD4B-403D-65A645587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79F11F-A10A-3666-EDE1-8CEF3C1DA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D3F56-6396-3545-A8D6-4399F384634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617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Раздел: Типы задач в машинном обучении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80236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Раздел: ML в информационной безопасности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6333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Карта домена: ML не заменяет ИБ, а усиливает детекцию, приоритизацию и расследование. Попросите студентов назвать, какие данные есть у каждой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90924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Связь с типологией: классификация + иногда semi-supervised. Связь с lifecycle: признаки и разметка — Data Engineering, порог —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7419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Phishing ближе к supervised NLP/URL. UEBA ближе к anomaly detection и sequential моделям. Оба страдают от сдвига поведения (командировка ≠ атака).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23648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каркас второй половины лекции. Каждый пункт разберём на числах и схемах.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79453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Посчитайте вместе accuracy «глупой» и «полезной» модели. Подчеркните, что 200 FP — это уже нагрузка на аналитика.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34856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Дать студентам выбрать порог: malware-фильтр почты vs IPS на ядре сети. Разные контуры — разная допустимая цена FP.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44372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слайд-мост: вернитесь к исходным этапам и покажите, что меняется в домене ИБ.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48883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E8B6D-D08B-4B1A-D9A8-06432D0E4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ED8192-E0F0-153E-17B1-938D1AA7D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339E64-BB1C-D80F-1543-96593F9C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67C733-C747-8DB4-EDF5-1CAB412D5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012A16-6475-74B1-B4E5-6C4DFF6C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12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697F2-9F7C-2287-1A03-456193963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4D45F8-0805-14A9-B391-EDA84CD76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2F9CA0-F0F5-CFEE-94BC-E5D3E493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AD5D6A-301F-4885-4CC4-D460016D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3219F1-9F1C-3511-A2D0-3C54AE9B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66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857331-2001-93F1-F520-F4D94FF7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314ECB-7B25-E416-F62E-ECB7B6AF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5CDD95-8CC9-B087-946C-71C0E7B7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E917F8-D52B-8E84-CEFA-490F9052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5B2959-A325-029F-220C-FEF6BC1A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271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B61E2-9A41-5072-7110-D67FE568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76CA9F-CD7C-CB82-9E09-FE31FDEDB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310CDF-460D-9733-E6EC-4FAD45E27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1B13F1-D080-51D2-28D4-20C4200AC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87A68E-6F41-F3F0-3B8E-6A0506C4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60777F-1E67-5296-70C8-C484EDD1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94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76873-E62F-BC00-4FAE-3A5B9869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3C5C96-E4F2-8358-BFA8-935D2CF7E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1A8A9B-8BF6-8F1D-B049-EE29E2563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78E9D5-E209-D7F7-2789-DF651D698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8564E-4141-9D4A-5CA9-7DABAB46E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2EDAB9-AB1A-7684-E870-40E04A80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5754439-4D8B-97CC-C3C5-9895A70B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5106E1B-7F8C-1E2E-7F6C-0BB5D929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41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26F45-3163-1670-A09F-DAF478716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CF6ECD6-F855-3B35-649B-FE0DEEF5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CF0A94-3C01-D3DF-C1FD-4CFF25ED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9FEA99-5EB7-7EC9-ADFB-835DAC05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531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1BE0A10-0E7B-66D4-1EF5-91CBB222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9ECC2E-BDAB-6971-39A5-47CE70DC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B2DE6-86F2-C866-4B88-B5E8E75F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4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22D58-9566-BC0C-5DDC-7529A112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E002C5-1F7B-2CC5-E15B-67100407F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DB8C5D-E22F-BB39-FE8C-AF423232C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778928-6D1E-6A6E-9750-453C9708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CDC0C8-0619-7106-38B1-928CD571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F7D2A8-CFF0-A165-E878-536EC327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50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BC82D-5380-0098-6E04-AF61237E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05F4A20-6C6C-8ADC-6EF9-3C19611FA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0DE6B0-CDDE-9CF6-30F9-7D037DC67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354C83-793A-7DD7-D8E9-2A76170CA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4B2BD9-4444-7345-3B1E-D69F1FDB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33C698-B631-958F-0F69-C1819972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21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BC2B5-34BB-7D61-9966-4FF5D6C5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C52B50-7C6B-12E6-C88C-CF5DFCD49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3A21AA-7271-0116-A75F-F336DA4E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6B28D6-0FF0-2633-77C6-6836FBE06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0283D7-6105-C28E-CDD8-3890075C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473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83F5C5-DF8A-B74B-2B79-970CE30754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BA98EC-E1F6-17B6-BCD2-EA8874D81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1E48B4-E64D-5A0B-8092-91617F25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BADBDC-1CE2-755D-265E-989FA7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F6CC71-007E-4C7C-77A5-1CE64A07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09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2B84D-AB4C-31CD-E0BB-39B1CD30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87B4A3-1ADF-87DD-66DF-54AC332F7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545EF6-848C-A3B2-1F13-6C2A41F39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47B6C-DF90-478D-9624-F5E44B1B4C9B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8B8382-D13A-6E94-6211-671B2C66B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4EB851-59D3-8DCF-9372-7F017AB98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C893A-CD73-4DFC-9CD1-FC93B2281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41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164592" cy="31089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УрФУ  ·  2026–2027  ·  курс по анализу данных в ИБ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72800" cy="10515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4F7FB"/>
                </a:solidFill>
                <a:latin typeface="Calibri"/>
              </a:rPr>
              <a:t>Лекция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13716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4F7FB"/>
                </a:solidFill>
                <a:latin typeface="Calibri"/>
              </a:rPr>
              <a:t>Жизненный цикл ML-решения,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F4F7FB"/>
                </a:solidFill>
                <a:latin typeface="Calibri"/>
              </a:rPr>
              <a:t>типы задач и применение в информационной безопасности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972800" cy="64008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E9C46A"/>
                </a:solidFill>
                <a:latin typeface="Calibri"/>
              </a:rPr>
              <a:t>Программные инструменты анализа данных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E9C46A"/>
                </a:solidFill>
                <a:latin typeface="Calibri"/>
              </a:rPr>
              <a:t>в задачах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68522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5852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F7FB"/>
                </a:solidFill>
                <a:latin typeface="Calibri"/>
              </a:rPr>
              <a:t>План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EC4B6"/>
                </a:solidFill>
                <a:latin typeface="Calibri"/>
              </a:rPr>
              <a:t>УрФУ  ·  Лекция 01  ·  ML в задачах ИБ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29284"/>
            <a:ext cx="1133856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29284"/>
            <a:ext cx="1051560" cy="11155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29284"/>
            <a:ext cx="1051560" cy="1115568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EC4B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293875"/>
            <a:ext cx="969264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Жизненный цикл ML-решения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96212"/>
            <a:ext cx="969264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E7185"/>
                </a:solidFill>
                <a:latin typeface="Calibri"/>
              </a:rPr>
              <a:t>От бизнес-постановки до мониторинга модели в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391156"/>
            <a:ext cx="1133856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391156"/>
            <a:ext cx="1051560" cy="11155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391156"/>
            <a:ext cx="1051560" cy="1115568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EC4B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555748"/>
            <a:ext cx="969264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Типы задач в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58084"/>
            <a:ext cx="969264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E7185"/>
                </a:solidFill>
                <a:latin typeface="Calibri"/>
              </a:rPr>
              <a:t>Supervised, unsupervised, semi-supervised, классификация и регрессия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653027"/>
            <a:ext cx="1133856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3653027"/>
            <a:ext cx="1051560" cy="11155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653027"/>
            <a:ext cx="1051560" cy="1115568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EC4B6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817620"/>
            <a:ext cx="969264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Применение ML в ИБ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219955"/>
            <a:ext cx="969264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E7185"/>
                </a:solidFill>
                <a:latin typeface="Calibri"/>
              </a:rPr>
              <a:t>Malware, IDS/IPS, phishing, UEBA, DDoS, SIEM, fraud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914900"/>
            <a:ext cx="1133856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4914900"/>
            <a:ext cx="1051560" cy="11155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4914900"/>
            <a:ext cx="1051560" cy="1115568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EC4B6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079492"/>
            <a:ext cx="969264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Особенности ИБ-задач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481828"/>
            <a:ext cx="969264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E7185"/>
                </a:solidFill>
                <a:latin typeface="Calibri"/>
              </a:rPr>
              <a:t>Дисбаланс, неполная разметка, drift, цена FP и FN</a:t>
            </a:r>
          </a:p>
        </p:txBody>
      </p:sp>
    </p:spTree>
    <p:extLst>
      <p:ext uri="{BB962C8B-B14F-4D97-AF65-F5344CB8AC3E}">
        <p14:creationId xmlns:p14="http://schemas.microsoft.com/office/powerpoint/2010/main" val="1612024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РАЗДЕЛ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4F7FB"/>
                </a:solidFill>
                <a:latin typeface="Calibri"/>
              </a:rPr>
              <a:t>Жизненный цикл ML-решения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E9C46A"/>
                </a:solidFill>
                <a:latin typeface="Calibri"/>
              </a:rPr>
              <a:t>От постановки задачи до мониторинга модели в production</a:t>
            </a:r>
          </a:p>
        </p:txBody>
      </p:sp>
    </p:spTree>
    <p:extLst>
      <p:ext uri="{BB962C8B-B14F-4D97-AF65-F5344CB8AC3E}">
        <p14:creationId xmlns:p14="http://schemas.microsoft.com/office/powerpoint/2010/main" val="123854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34253-8AC9-D592-714A-28A019A8C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492FA0C-288C-1ED7-93AB-C654A23A8BE9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E3B6970-5E7A-F3A5-E3D7-F36DE9A859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599" y="150334"/>
            <a:ext cx="1148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Основные этапы разработки </a:t>
            </a:r>
            <a:r>
              <a:rPr lang="en-US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ML-</a:t>
            </a:r>
            <a:r>
              <a:rPr lang="ru-RU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решения</a:t>
            </a:r>
            <a:endParaRPr lang="ru-RU" b="1" spc="-65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974B635-FBF8-B695-E8F0-0B4E63024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43" y="1806344"/>
            <a:ext cx="10900914" cy="324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9FB557-DB1C-951B-738A-B58C8E71C9A7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EC6E5E-65B4-2531-9543-78CF8630F7F8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0D51E4-C03D-5C35-2483-B42452A5D025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8228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339B8-473C-3057-0E40-ED1FCD24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C2E49F1-BF95-2E73-CD1B-4A6FCFDE0F09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1F5CE48-EC3F-756E-353D-505F7348FD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599" y="150334"/>
            <a:ext cx="1148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Жизненный цикл разработки </a:t>
            </a:r>
            <a:r>
              <a:rPr lang="en-US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ML-</a:t>
            </a:r>
            <a:r>
              <a:rPr lang="ru-RU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решения</a:t>
            </a:r>
            <a:endParaRPr lang="ru-RU" b="1" spc="-65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pic>
        <p:nvPicPr>
          <p:cNvPr id="1028" name="Picture 4" descr="CRISP-ML(Q)">
            <a:extLst>
              <a:ext uri="{FF2B5EF4-FFF2-40B4-BE49-F238E27FC236}">
                <a16:creationId xmlns:a16="http://schemas.microsoft.com/office/drawing/2014/main" id="{7735F5EB-D49D-FC08-ADD7-F165355E7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223" y="1636712"/>
            <a:ext cx="7603551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80B5201-5388-092A-4A92-DEB9747413D8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C477B2-CEF6-1B24-01AA-CFEA92D58785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16566-0547-E199-3D53-0575041B3442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37757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39B27-F395-77A2-E352-139F049D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BFF036-F058-0CCB-D656-F7CB74CDBD90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E1149D7-F503-D39C-4B1C-DC9D5ED1D9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599" y="150334"/>
            <a:ext cx="1148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Business &amp; Data </a:t>
            </a:r>
            <a:r>
              <a:rPr lang="en-US" b="1" spc="-95" dirty="0" err="1">
                <a:solidFill>
                  <a:srgbClr val="F4F7FB"/>
                </a:solidFill>
                <a:latin typeface="Calibri" panose="020F0502020204030204" pitchFamily="34" charset="0"/>
              </a:rPr>
              <a:t>Understading</a:t>
            </a:r>
            <a:endParaRPr lang="ru-RU" b="1" spc="-65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06F0CA-4820-DABE-7502-95D670CFF986}"/>
              </a:ext>
            </a:extLst>
          </p:cNvPr>
          <p:cNvSpPr txBox="1"/>
          <p:nvPr/>
        </p:nvSpPr>
        <p:spPr>
          <a:xfrm>
            <a:off x="642505" y="1424702"/>
            <a:ext cx="59065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 этом этапе необходимо определить</a:t>
            </a:r>
            <a:r>
              <a:rPr lang="ru-RU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проблему,</a:t>
            </a: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измеримые критерии успеха</a:t>
            </a:r>
            <a:r>
              <a:rPr lang="en-US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en-US" dirty="0">
              <a:solidFill>
                <a:srgbClr val="434343"/>
              </a:solidFill>
              <a:effectLst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Также следует подтвердить осуществимость идеи перед запуском ML-проекта в промышленных условиях, определив доступность данных, нормативные ограничения и нефункциональные требования к приложению, такие как надежность, масштабируемость, объяснимость и потребность в ресурсах.</a:t>
            </a:r>
            <a:endParaRPr lang="en-US" dirty="0">
              <a:solidFill>
                <a:srgbClr val="434343"/>
              </a:solidFill>
              <a:effectLst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CFE703C-2DEF-FD67-E6D5-F700737AEC1F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C39B2BF-AEFC-3B30-231A-79424C9803A1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1A0C82-B391-7EEB-B861-1F6F795DC044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1175290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AA05F1-2E26-0EEE-9365-8BDB5CC7A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40AC1D-E808-E3DD-A7FB-820809D8B4EF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6BB6681-B831-D080-B1BD-AC03F18310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599" y="150334"/>
            <a:ext cx="1148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Business &amp; Data </a:t>
            </a:r>
            <a:r>
              <a:rPr lang="en-US" b="1" spc="-95" dirty="0" err="1">
                <a:solidFill>
                  <a:srgbClr val="F4F7FB"/>
                </a:solidFill>
                <a:latin typeface="Calibri" panose="020F0502020204030204" pitchFamily="34" charset="0"/>
              </a:rPr>
              <a:t>Understading</a:t>
            </a:r>
            <a:endParaRPr lang="ru-RU" b="1" spc="-65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B1045B-4BB6-409E-2D08-31CD8AA27F2F}"/>
              </a:ext>
            </a:extLst>
          </p:cNvPr>
          <p:cNvSpPr txBox="1"/>
          <p:nvPr/>
        </p:nvSpPr>
        <p:spPr>
          <a:xfrm>
            <a:off x="688848" y="1499616"/>
            <a:ext cx="11277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Бизнес-цель: </a:t>
            </a:r>
            <a:r>
              <a:rPr lang="ru-RU" sz="1600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формулируем проблему заказчика, которую требуется решить. 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Проблема может формулироваться в получении доп. прибыли или оптимизации издержек.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Функции, которые должна поддерживать система:</a:t>
            </a:r>
            <a:r>
              <a:rPr lang="ru-RU" sz="1600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Какие из функциональных возможностей системы могут повлиять на проектирование ML части?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Данные:</a:t>
            </a:r>
            <a:r>
              <a:rPr lang="ru-RU" sz="1600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Откуда поступают данные? Каков размер датасета? Размечены ли данные?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Ограничения</a:t>
            </a:r>
            <a:r>
              <a:rPr lang="ru-RU" sz="1600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Какая вычислительная мощность доступна? Будет ли система работать в облаке или на локальном устройстве? Планируется ли, что со временем модель будет автоматически совершенствоваться?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Масштаб системы</a:t>
            </a:r>
            <a:r>
              <a:rPr lang="ru-RU" sz="1600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Сколько пользователей будет у системы? С каким количеством объектов (например, видеороликов) придется иметь дело? С какой скоростью растут эти показатели?</a:t>
            </a: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Производительность</a:t>
            </a:r>
            <a:r>
              <a:rPr lang="ru-RU" sz="1600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Насколько быстрыми должны быть предсказания? Должна ли система работать в реальном времени? Что важнее — точность или низкая задержка?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Общая ц</a:t>
            </a:r>
            <a:r>
              <a:rPr lang="ru-RU" sz="1600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ель этапа - согласовать рамки системы и требования к ней. 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Важно составить список требований и ограничений, согласовать с заинтересованными лицами, т.к. это поможет убедиться, что все одинаково представляют себе задачу.</a:t>
            </a:r>
            <a:endParaRPr lang="en-US" sz="1600" dirty="0">
              <a:solidFill>
                <a:srgbClr val="434343"/>
              </a:solidFill>
              <a:effectLst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86727E7-C8CF-4B26-12DC-9936A5A23EE6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84140D2-1127-2C0F-65AB-7A4F0B676DA7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46009-6EF8-5DB8-FD7E-AB0941931D63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29646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49218-C193-8A1D-45DE-ED68988B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AE2DD7-979B-9595-A474-EE535C3BD140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pic>
        <p:nvPicPr>
          <p:cNvPr id="3074" name="Picture 2" descr="Learn the basics of ML Products and Services">
            <a:extLst>
              <a:ext uri="{FF2B5EF4-FFF2-40B4-BE49-F238E27FC236}">
                <a16:creationId xmlns:a16="http://schemas.microsoft.com/office/drawing/2014/main" id="{F1269988-B8E7-6301-386A-01E93F5BD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912" y="3659666"/>
            <a:ext cx="54864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01E96514-8C1B-6DE1-37C9-63F68FF0D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599" y="150334"/>
            <a:ext cx="1148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Data Engineering</a:t>
            </a:r>
            <a:endParaRPr lang="ru-RU" b="1" spc="-65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E9A927-B0CF-9ADB-CEC7-115937485F53}"/>
              </a:ext>
            </a:extLst>
          </p:cNvPr>
          <p:cNvSpPr txBox="1"/>
          <p:nvPr/>
        </p:nvSpPr>
        <p:spPr>
          <a:xfrm>
            <a:off x="628365" y="1582340"/>
            <a:ext cx="59065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 этом этапе выполняются задачи получения данных, их очистки и преобразования в пригодный для моделирования вид.</a:t>
            </a:r>
            <a:endParaRPr lang="en-US" dirty="0">
              <a:solidFill>
                <a:srgbClr val="434343"/>
              </a:solidFill>
              <a:effectLst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en-US" dirty="0">
              <a:solidFill>
                <a:srgbClr val="434343"/>
              </a:solidFill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Некоторые задачи этапа: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Отбор признаков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Отбор данных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Балансировка классов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Очистка данных: работа с выбросами, пропусками, шумом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Конструирование признаков 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Аугментация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Стандартизация</a:t>
            </a:r>
            <a:endParaRPr lang="en-US" dirty="0">
              <a:solidFill>
                <a:srgbClr val="434343"/>
              </a:solidFill>
              <a:effectLst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E349093-FD7D-4CA6-9F30-3A252B730E39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D6CA672-9F89-518A-409B-B8D33BFC1D91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C2D14-5877-16B3-0A6A-483D36348184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393385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A3F43-2926-3A23-F693-52A4092A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C3825A-1DDD-720F-B0AD-685ADF4D30AD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EBF393F-9682-3429-90BF-E0820B25C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599" y="150334"/>
            <a:ext cx="1148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Model Building</a:t>
            </a:r>
            <a:endParaRPr lang="ru-RU" b="1" spc="-65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52D705-B99C-98CA-139C-0A209E3F3413}"/>
              </a:ext>
            </a:extLst>
          </p:cNvPr>
          <p:cNvSpPr txBox="1"/>
          <p:nvPr/>
        </p:nvSpPr>
        <p:spPr>
          <a:xfrm>
            <a:off x="624217" y="1405574"/>
            <a:ext cx="59065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Этот этап определяется ограничениями и требованиями, полученными на этапе понимания бизнеса и данных. </a:t>
            </a:r>
            <a:endParaRPr lang="en-US" dirty="0">
              <a:solidFill>
                <a:srgbClr val="434343"/>
              </a:solidFill>
              <a:effectLst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en-US" dirty="0">
              <a:solidFill>
                <a:srgbClr val="434343"/>
              </a:solidFill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Как правило, этап моделирования включает в себя выбор ML-модели</a:t>
            </a:r>
            <a:r>
              <a:rPr lang="en-US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 </a:t>
            </a:r>
            <a:r>
              <a:rPr lang="ru-RU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ее </a:t>
            </a: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обучение / дообучение.</a:t>
            </a:r>
            <a:endParaRPr lang="en-US" dirty="0">
              <a:solidFill>
                <a:srgbClr val="434343"/>
              </a:solidFill>
              <a:effectLst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899400C-BF1F-FF93-1811-8552D655A44B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5D68FC-29F2-B729-5F98-240253E5308E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BBFE2C-E35A-266C-F234-A50EA8B2AA15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2167026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2CFEB3-3F93-85E6-25E5-C3DB3D4B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4CE4504-3A33-E088-6513-88DF5AF7E1C1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6167F9C-9176-7D4C-4D94-D3708D83C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599" y="150334"/>
            <a:ext cx="1148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Model Evaluation</a:t>
            </a:r>
            <a:endParaRPr lang="ru-RU" b="1" spc="-65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E17DED-D302-5A11-14B3-0F91C8228BB9}"/>
              </a:ext>
            </a:extLst>
          </p:cNvPr>
          <p:cNvSpPr txBox="1"/>
          <p:nvPr/>
        </p:nvSpPr>
        <p:spPr>
          <a:xfrm>
            <a:off x="551065" y="1343801"/>
            <a:ext cx="59065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 этом этапе проверяется производительность обученной модели на тестовом наборе данных и принимается решение о ее дальнейшей судьбе.</a:t>
            </a:r>
            <a:endParaRPr lang="en-US" dirty="0">
              <a:solidFill>
                <a:srgbClr val="434343"/>
              </a:solidFill>
              <a:effectLst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B0CD17-3D30-4E83-B09C-E6ADD6987487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5103D4-AB21-D6AC-E570-0B21578A4E80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359AD-581E-0B82-9510-B2F917DBD258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3185381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D63DD-8149-A940-70C9-E81EA276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691DD72-A298-F2A2-C171-F1404834F742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pic>
        <p:nvPicPr>
          <p:cNvPr id="5122" name="Picture 2" descr="A guide to ML model serving | Ubuntu">
            <a:extLst>
              <a:ext uri="{FF2B5EF4-FFF2-40B4-BE49-F238E27FC236}">
                <a16:creationId xmlns:a16="http://schemas.microsoft.com/office/drawing/2014/main" id="{48E1F926-F4AC-6996-951E-BEC6F9168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516" y="3489626"/>
            <a:ext cx="5638800" cy="289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438A6A0E-208B-C33D-216D-C31DC46682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599" y="150334"/>
            <a:ext cx="1148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Model Deployment</a:t>
            </a:r>
            <a:endParaRPr lang="ru-RU" b="1" spc="-65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906C6D-407E-70FC-8A6D-49A6C285158D}"/>
              </a:ext>
            </a:extLst>
          </p:cNvPr>
          <p:cNvSpPr txBox="1"/>
          <p:nvPr/>
        </p:nvSpPr>
        <p:spPr>
          <a:xfrm>
            <a:off x="355599" y="1242536"/>
            <a:ext cx="59065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 этом этапе </a:t>
            </a:r>
            <a:r>
              <a:rPr lang="ru-RU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осуществляется </a:t>
            </a: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интеграция модели ML в </a:t>
            </a:r>
            <a:r>
              <a:rPr lang="en-US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production.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en-US" dirty="0">
              <a:solidFill>
                <a:srgbClr val="434343"/>
              </a:solidFill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Подходы к развертыванию определяются на первом этапе жизненного цикла </a:t>
            </a:r>
            <a:r>
              <a:rPr lang="en-US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business understanding.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78AF2C-DE37-C873-CB00-CC2A17F9941A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ADCD0A0-80F0-2530-85F0-55CD684DF71A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D6644-BFD3-2915-6212-264A6A42810C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1089495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C37437-C4CC-6FBF-8F14-5064BAB4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11D2CC7-7199-0EE8-230D-8728551895CB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pic>
        <p:nvPicPr>
          <p:cNvPr id="4100" name="Picture 4" descr="A Comprehensive Guide on How to Monitor Your Models in Production">
            <a:extLst>
              <a:ext uri="{FF2B5EF4-FFF2-40B4-BE49-F238E27FC236}">
                <a16:creationId xmlns:a16="http://schemas.microsoft.com/office/drawing/2014/main" id="{8DC33372-4301-20F3-5D53-44C008580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012086"/>
            <a:ext cx="5947929" cy="339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D42A319-4DF2-7885-387E-60D2884842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599" y="150334"/>
            <a:ext cx="1148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95" dirty="0">
                <a:solidFill>
                  <a:srgbClr val="F4F7FB"/>
                </a:solidFill>
                <a:latin typeface="Calibri" panose="020F0502020204030204" pitchFamily="34" charset="0"/>
              </a:rPr>
              <a:t>Monitoring and Maintenance</a:t>
            </a:r>
            <a:endParaRPr lang="ru-RU" b="1" spc="-65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532EE5-C7C4-3A2F-9474-9F0B7FEA8998}"/>
              </a:ext>
            </a:extLst>
          </p:cNvPr>
          <p:cNvSpPr txBox="1"/>
          <p:nvPr/>
        </p:nvSpPr>
        <p:spPr>
          <a:xfrm>
            <a:off x="532777" y="1191734"/>
            <a:ext cx="491095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После того, как модель ML была развернута, важно контролировать ее производительность и осуществлять поддержку.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en-US" dirty="0">
              <a:solidFill>
                <a:srgbClr val="434343"/>
              </a:solidFill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SzPts val="1000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Некоторые задачи этапа:</a:t>
            </a:r>
            <a:endParaRPr lang="en-US" dirty="0">
              <a:solidFill>
                <a:srgbClr val="434343"/>
              </a:solidFill>
              <a:effectLst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Отслежива</a:t>
            </a:r>
            <a:r>
              <a:rPr lang="ru-RU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ние</a:t>
            </a: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эффективности модели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Сбор новых данных и разметка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Переобучен</a:t>
            </a:r>
            <a:r>
              <a:rPr lang="ru-RU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ие при необходимости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Повторение задач из этапов </a:t>
            </a:r>
            <a:r>
              <a:rPr lang="ru-RU" dirty="0">
                <a:solidFill>
                  <a:srgbClr val="43434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</a:t>
            </a:r>
            <a:r>
              <a:rPr lang="en-US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 Building</a:t>
            </a: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 и «</a:t>
            </a:r>
            <a:r>
              <a:rPr lang="en-US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 Evaluation</a:t>
            </a:r>
            <a:r>
              <a:rPr lang="ru-RU" dirty="0">
                <a:solidFill>
                  <a:srgbClr val="434343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en-US" dirty="0">
              <a:solidFill>
                <a:srgbClr val="434343"/>
              </a:solidFill>
              <a:effectLst/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9E0810D-48F4-4381-E14D-E35250F2CD96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0575CA6-F809-8CDC-370B-F2D1577C6360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59C75-DBFC-5A70-B23E-C74B67B0CBA7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631036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РАЗДЕЛ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4F7FB"/>
                </a:solidFill>
                <a:latin typeface="Calibri"/>
              </a:rPr>
              <a:t>Типы задач в машинном обучении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E9C46A"/>
                </a:solidFill>
                <a:latin typeface="Calibri"/>
              </a:rPr>
              <a:t>Supervised, unsupervised, semi-supervised и постановка задачи</a:t>
            </a:r>
          </a:p>
        </p:txBody>
      </p:sp>
    </p:spTree>
    <p:extLst>
      <p:ext uri="{BB962C8B-B14F-4D97-AF65-F5344CB8AC3E}">
        <p14:creationId xmlns:p14="http://schemas.microsoft.com/office/powerpoint/2010/main" val="80763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3F71977-AB4C-038C-1F83-26D8484F5A9F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77FD1-594B-9D5A-2DCD-9EEA23A2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635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4F7FB"/>
                </a:solidFill>
                <a:latin typeface="Calibri" panose="020F0502020204030204" pitchFamily="34" charset="0"/>
              </a:rPr>
              <a:t>Типы задач</a:t>
            </a:r>
          </a:p>
        </p:txBody>
      </p:sp>
      <p:pic>
        <p:nvPicPr>
          <p:cNvPr id="1026" name="Picture 2" descr="Supervised, Unsupervised, &amp; Reinforcement Learning - AI Wiki">
            <a:extLst>
              <a:ext uri="{FF2B5EF4-FFF2-40B4-BE49-F238E27FC236}">
                <a16:creationId xmlns:a16="http://schemas.microsoft.com/office/drawing/2014/main" id="{EADDC98B-A7CE-54BB-A8AC-9E28122AA6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2477294"/>
            <a:ext cx="67437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1E013CD-A3E8-FD16-8BAB-75869A5DA618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07F92A4-44B5-7DCB-296E-7DCE2887323F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565B9-4E3F-1F66-154E-5664FC30CAFF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2356686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558220D-5268-5925-7D4A-4565AFDBCC5D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77FD1-594B-9D5A-2DCD-9EEA23A2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635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4F7FB"/>
                </a:solidFill>
                <a:latin typeface="Calibri" panose="020F0502020204030204" pitchFamily="34" charset="0"/>
              </a:rPr>
              <a:t>Semi-supervised</a:t>
            </a:r>
            <a:endParaRPr lang="ru-RU" b="1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pic>
        <p:nvPicPr>
          <p:cNvPr id="2052" name="Picture 4" descr="Introduction to Semi-Supervised Learning | TeksandsAItest">
            <a:extLst>
              <a:ext uri="{FF2B5EF4-FFF2-40B4-BE49-F238E27FC236}">
                <a16:creationId xmlns:a16="http://schemas.microsoft.com/office/drawing/2014/main" id="{A8D8123B-5515-CE03-3718-745E51D1D0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858169"/>
            <a:ext cx="85725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04BE01-EE82-2840-4E7F-7A4636B29DE1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AB3D8AB-CB2E-563D-727D-81514EBAC9C7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2C39D-0539-008F-0111-927FFCFE5951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2372127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8D6024-F95C-7A6F-C6B5-E43282789757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B5B75E1-F967-8C1E-5AD0-C439ADE3C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34" y="1764075"/>
            <a:ext cx="11036931" cy="434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B82978-4477-4F4B-72FB-FDA70656059B}"/>
              </a:ext>
            </a:extLst>
          </p:cNvPr>
          <p:cNvSpPr txBox="1"/>
          <p:nvPr/>
        </p:nvSpPr>
        <p:spPr>
          <a:xfrm>
            <a:off x="577534" y="6581001"/>
            <a:ext cx="4576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https://evergreens.com.ua/ru/articles/classical-machine-learning.html</a:t>
            </a:r>
            <a:endParaRPr lang="ru-RU" sz="1200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7EF72E8-9EAB-F041-065B-AE8AC11F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635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4F7FB"/>
                </a:solidFill>
                <a:latin typeface="Calibri" panose="020F0502020204030204" pitchFamily="34" charset="0"/>
              </a:rPr>
              <a:t>Supervised vs unsupervised</a:t>
            </a:r>
            <a:endParaRPr lang="ru-RU" b="1" dirty="0">
              <a:solidFill>
                <a:srgbClr val="F4F7FB"/>
              </a:solidFill>
              <a:latin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9326CE-D1EE-AFCA-63D5-0FBDEA500383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ADC484A-D6F4-FB1D-ADD8-5E6622627E21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49C77-40AE-90B4-106A-48D1188E28DB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957547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2F4B07C-56FB-C290-CFBF-1A5E539C8680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BF280-AB03-1575-2B14-EABF4766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635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4F7FB"/>
                </a:solidFill>
                <a:latin typeface="Calibri" panose="020F0502020204030204" pitchFamily="34" charset="0"/>
              </a:rPr>
              <a:t>Классификация и регрессия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C2B861-3AF7-B044-457F-CBA22D359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87" y="1690688"/>
            <a:ext cx="5719021" cy="321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E175FB1-CD55-6FE1-3099-52BE11075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5720391" cy="321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A1B99D-0DE2-9A4A-9BC0-F0EFCA875A68}"/>
              </a:ext>
            </a:extLst>
          </p:cNvPr>
          <p:cNvSpPr txBox="1"/>
          <p:nvPr/>
        </p:nvSpPr>
        <p:spPr>
          <a:xfrm>
            <a:off x="577534" y="6581001"/>
            <a:ext cx="4576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https://evergreens.com.ua/ru/articles/classical-machine-learning.html</a:t>
            </a:r>
            <a:endParaRPr lang="ru-RU" sz="12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9E0025F-E9AB-F083-7FE7-5108BEE060FE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224971B-EBA2-FAF2-CFD4-60E29A08907A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8E486-55C6-1FCD-14EA-C126876C33EF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1728507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A95F54E-9AE8-3CE3-FD8E-2CDC374B52F4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6315C-3E18-2C38-A94F-EAD02D8F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7800"/>
            <a:ext cx="11480800" cy="635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4F7FB"/>
                </a:solidFill>
                <a:latin typeface="Calibri" panose="020F0502020204030204" pitchFamily="34" charset="0"/>
              </a:rPr>
              <a:t>Кластеризация</a:t>
            </a:r>
          </a:p>
        </p:txBody>
      </p:sp>
      <p:pic>
        <p:nvPicPr>
          <p:cNvPr id="4098" name="Picture 2" descr="кластеризация">
            <a:extLst>
              <a:ext uri="{FF2B5EF4-FFF2-40B4-BE49-F238E27FC236}">
                <a16:creationId xmlns:a16="http://schemas.microsoft.com/office/drawing/2014/main" id="{6312C368-DFA4-B307-E93F-6C4ACEE8C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134" y="2046914"/>
            <a:ext cx="7385731" cy="41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DE182-447F-2976-9233-A9BB697FDB77}"/>
              </a:ext>
            </a:extLst>
          </p:cNvPr>
          <p:cNvSpPr txBox="1"/>
          <p:nvPr/>
        </p:nvSpPr>
        <p:spPr>
          <a:xfrm>
            <a:off x="577534" y="6581001"/>
            <a:ext cx="4576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https://evergreens.com.ua/ru/articles/classical-machine-learning.html</a:t>
            </a:r>
            <a:endParaRPr lang="ru-RU" sz="12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AC9FC54-6705-6A79-B885-24C8151131AE}"/>
              </a:ext>
            </a:extLst>
          </p:cNvPr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D37276-F7A4-C99D-0622-3241DB63E01C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E2EBE2-F483-7C6B-6A14-AD7EF157F9EF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1096877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A999185-B4E3-0E0B-8795-128641440B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885" y="123022"/>
            <a:ext cx="5312229" cy="661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8DCE63-D40A-C50D-B4EE-C9F411224C1A}"/>
              </a:ext>
            </a:extLst>
          </p:cNvPr>
          <p:cNvSpPr txBox="1"/>
          <p:nvPr/>
        </p:nvSpPr>
        <p:spPr>
          <a:xfrm>
            <a:off x="577534" y="6581001"/>
            <a:ext cx="43799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https://trends.rbc.ru/trends/industry/60c85c599a7947f5776ad409</a:t>
            </a:r>
            <a:endParaRPr lang="ru-RU" sz="12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F4A9112-6ECB-B6D8-0ABC-21BC3130604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C4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6BA535-7595-14EF-099C-33E5521DA516}"/>
              </a:ext>
            </a:extLst>
          </p:cNvPr>
          <p:cNvSpPr/>
          <p:nvPr/>
        </p:nvSpPr>
        <p:spPr>
          <a:xfrm>
            <a:off x="0" y="6578600"/>
            <a:ext cx="12192000" cy="2794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F45C1-3797-3BBA-9DB3-F2F5DEC626FB}"/>
              </a:ext>
            </a:extLst>
          </p:cNvPr>
          <p:cNvSpPr txBox="1"/>
          <p:nvPr/>
        </p:nvSpPr>
        <p:spPr>
          <a:xfrm>
            <a:off x="254000" y="6604000"/>
            <a:ext cx="222048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ru-RU" sz="1000">
                <a:solidFill>
                  <a:srgbClr val="2EC4B6"/>
                </a:solidFill>
                <a:latin typeface="Calibri" panose="020F0502020204030204" pitchFamily="34" charset="0"/>
              </a:rPr>
              <a:t>УрФУ  ·  Лекция 01  ·  ML в задачах ИБ</a:t>
            </a:r>
          </a:p>
        </p:txBody>
      </p:sp>
    </p:spTree>
    <p:extLst>
      <p:ext uri="{BB962C8B-B14F-4D97-AF65-F5344CB8AC3E}">
        <p14:creationId xmlns:p14="http://schemas.microsoft.com/office/powerpoint/2010/main" val="21436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РАЗДЕЛ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4F7FB"/>
                </a:solidFill>
                <a:latin typeface="Calibri"/>
              </a:rPr>
              <a:t>ML в информационной безопасности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E9C46A"/>
                </a:solidFill>
                <a:latin typeface="Calibri"/>
              </a:rPr>
              <a:t>Применения, роли модели и особенности ИБ-данных</a:t>
            </a:r>
          </a:p>
        </p:txBody>
      </p:sp>
    </p:spTree>
    <p:extLst>
      <p:ext uri="{BB962C8B-B14F-4D97-AF65-F5344CB8AC3E}">
        <p14:creationId xmlns:p14="http://schemas.microsoft.com/office/powerpoint/2010/main" val="1303207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5852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F7FB"/>
                </a:solidFill>
                <a:latin typeface="Calibri"/>
              </a:rPr>
              <a:t>Где в ИБ применяют машинное обучение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EC4B6"/>
                </a:solidFill>
                <a:latin typeface="Calibri"/>
              </a:rPr>
              <a:t>УрФУ  ·  Лекция 01  ·  ML в задачах ИБ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70432"/>
            <a:ext cx="26974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269748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426464"/>
            <a:ext cx="246888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Malware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83664"/>
            <a:ext cx="2468880" cy="10058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1B2A41"/>
                </a:solidFill>
                <a:latin typeface="Calibri"/>
              </a:rPr>
              <a:t>Классификация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файлов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,
PE-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признаки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,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70432"/>
            <a:ext cx="26974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170432"/>
            <a:ext cx="2697480" cy="9144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0128" y="1426464"/>
            <a:ext cx="246888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IDS / 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883664"/>
            <a:ext cx="2468880" cy="10058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A41"/>
                </a:solidFill>
                <a:latin typeface="Calibri"/>
              </a:rPr>
              <a:t>Аномалии трафика,
сигнатуры +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170432"/>
            <a:ext cx="26974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1170432"/>
            <a:ext cx="2697480" cy="914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4768" y="1426464"/>
            <a:ext cx="246888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Phishing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883664"/>
            <a:ext cx="2468880" cy="10058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B2A41"/>
                </a:solidFill>
                <a:latin typeface="Calibri"/>
              </a:rPr>
              <a:t>URL,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письма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лендинги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,
HTML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170432"/>
            <a:ext cx="26974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1170432"/>
            <a:ext cx="2697480" cy="914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9407" y="1426464"/>
            <a:ext cx="246888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UEBA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7" y="1883664"/>
            <a:ext cx="2468880" cy="10058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A41"/>
                </a:solidFill>
                <a:latin typeface="Calibri"/>
              </a:rPr>
              <a:t>Отклонения поведения
пользователя и сущности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60520"/>
            <a:ext cx="26974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160520"/>
            <a:ext cx="2697480" cy="91440"/>
          </a:xfrm>
          <a:prstGeom prst="rect">
            <a:avLst/>
          </a:prstGeom>
          <a:solidFill>
            <a:srgbClr val="1A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4416552"/>
            <a:ext cx="246888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DDoS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873752"/>
            <a:ext cx="2468880" cy="10058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1B2A41"/>
                </a:solidFill>
                <a:latin typeface="Calibri"/>
              </a:rPr>
              <a:t>Всплески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pps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/bps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4160520"/>
            <a:ext cx="26974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0" y="4160520"/>
            <a:ext cx="2697480" cy="91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10128" y="4416552"/>
            <a:ext cx="246888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SIEM / SOC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8" y="4873752"/>
            <a:ext cx="2468880" cy="10058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A41"/>
                </a:solidFill>
                <a:latin typeface="Calibri"/>
              </a:rPr>
              <a:t>Приоритизация алертов,
корреляция событий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160520"/>
            <a:ext cx="26974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35040" y="4160520"/>
            <a:ext cx="2697480" cy="914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44768" y="4416552"/>
            <a:ext cx="246888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Fraud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873752"/>
            <a:ext cx="2468880" cy="10058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A41"/>
                </a:solidFill>
                <a:latin typeface="Calibri"/>
              </a:rPr>
              <a:t>Платежи, аккаунты,
бот-фермы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4160520"/>
            <a:ext cx="26974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869680" y="4160520"/>
            <a:ext cx="2697480" cy="9144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79407" y="4416552"/>
            <a:ext cx="2468880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Vuln priority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7" y="4873752"/>
            <a:ext cx="2468880" cy="10058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1B2A41"/>
                </a:solidFill>
                <a:latin typeface="Calibri"/>
              </a:rPr>
              <a:t>Какие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lang="ru-RU" sz="1400" b="0" i="0" dirty="0">
                <a:solidFill>
                  <a:srgbClr val="1B2A41"/>
                </a:solidFill>
                <a:latin typeface="Calibri"/>
              </a:rPr>
              <a:t>уязвимости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патчить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
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первыми</a:t>
            </a:r>
            <a:endParaRPr sz="1400" b="0" i="0" dirty="0">
              <a:solidFill>
                <a:srgbClr val="1B2A41"/>
              </a:solidFill>
              <a:latin typeface="Calibri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65760" y="3182112"/>
            <a:ext cx="11475720" cy="8229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3182112"/>
            <a:ext cx="11475720" cy="82296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4F7FB"/>
                </a:solidFill>
                <a:latin typeface="Calibri"/>
              </a:rPr>
              <a:t>ML в контуре ИБ   ·   данные → модель → решение SOC / аналитика</a:t>
            </a:r>
          </a:p>
        </p:txBody>
      </p:sp>
    </p:spTree>
    <p:extLst>
      <p:ext uri="{BB962C8B-B14F-4D97-AF65-F5344CB8AC3E}">
        <p14:creationId xmlns:p14="http://schemas.microsoft.com/office/powerpoint/2010/main" val="804920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5852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F7FB"/>
                </a:solidFill>
                <a:latin typeface="Calibri"/>
              </a:rPr>
              <a:t>Пример: детектирование malware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EC4B6"/>
                </a:solidFill>
                <a:latin typeface="Calibri"/>
              </a:rPr>
              <a:t>УрФУ  ·  Лекция 01  ·  ML в задачах ИБ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129284"/>
            <a:ext cx="2168956" cy="14173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39012"/>
            <a:ext cx="2022652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Образец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59636"/>
            <a:ext cx="2022652" cy="7772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4F7FB"/>
                </a:solidFill>
                <a:latin typeface="Calibri"/>
              </a:rPr>
              <a:t>PE / APK / скрипт
из почты, EDR, sandbox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2148" y="1696212"/>
            <a:ext cx="128016" cy="201168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99308" y="1129284"/>
            <a:ext cx="2168956" cy="1417320"/>
          </a:xfrm>
          <a:prstGeom prst="roundRect">
            <a:avLst>
              <a:gd name="adj" fmla="val 8000"/>
            </a:avLst>
          </a:prstGeom>
          <a:solidFill>
            <a:srgbClr val="12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2460" y="1239012"/>
            <a:ext cx="2022652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Статика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2460" y="1659636"/>
            <a:ext cx="2022652" cy="7772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4F7FB"/>
                </a:solidFill>
                <a:latin typeface="Calibri"/>
              </a:rPr>
              <a:t>импорты, энтропия,
строки, секции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7409" y="1696212"/>
            <a:ext cx="128016" cy="201168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14569" y="1129284"/>
            <a:ext cx="2168956" cy="1417320"/>
          </a:xfrm>
          <a:prstGeom prst="roundRect">
            <a:avLst>
              <a:gd name="adj" fmla="val 8000"/>
            </a:avLst>
          </a:prstGeom>
          <a:solidFill>
            <a:srgbClr val="1A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7721" y="1239012"/>
            <a:ext cx="2022652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Динамика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7721" y="1659636"/>
            <a:ext cx="2022652" cy="7772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4F7FB"/>
                </a:solidFill>
                <a:latin typeface="Calibri"/>
              </a:rPr>
              <a:t>API-calls, сеть,
файл. операции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92670" y="1696212"/>
            <a:ext cx="128016" cy="201168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29830" y="1129284"/>
            <a:ext cx="2168956" cy="1417320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2982" y="1239012"/>
            <a:ext cx="2022652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Модель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2982" y="1659636"/>
            <a:ext cx="2022652" cy="7772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4F7FB"/>
                </a:solidFill>
                <a:latin typeface="Calibri"/>
              </a:rPr>
              <a:t>GBDT / нейросеть
на эмбеддингах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507931" y="1696212"/>
            <a:ext cx="128016" cy="201168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45091" y="1129284"/>
            <a:ext cx="2168956" cy="141732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18243" y="1239012"/>
            <a:ext cx="2022652" cy="384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Вердикт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8243" y="1659636"/>
            <a:ext cx="2022652" cy="7772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200" b="0" i="0" dirty="0">
                <a:solidFill>
                  <a:srgbClr val="F4F7FB"/>
                </a:solidFill>
                <a:latin typeface="Calibri"/>
              </a:rPr>
              <a:t>malware / benign
+ score для SOC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3602736"/>
            <a:ext cx="56235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384048" y="3602736"/>
            <a:ext cx="82296" cy="23317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694175"/>
            <a:ext cx="5367528" cy="347472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Какой тип задачи?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023360"/>
            <a:ext cx="5367528" cy="1819655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1"/>
                </a:solidFill>
                <a:latin typeface="Calibri"/>
              </a:rPr>
              <a:t>Обычно supervised classification. Иногда — anomaly detection, если «чистых» malware-меток мало. На выходе не только класс, но и score: его порог настраивают под цену ложных срабатываний.</a:t>
            </a:r>
          </a:p>
        </p:txBody>
      </p:sp>
    </p:spTree>
    <p:extLst>
      <p:ext uri="{BB962C8B-B14F-4D97-AF65-F5344CB8AC3E}">
        <p14:creationId xmlns:p14="http://schemas.microsoft.com/office/powerpoint/2010/main" val="109460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5852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F7FB"/>
                </a:solidFill>
                <a:latin typeface="Calibri"/>
              </a:rPr>
              <a:t>Примеры: phishing и 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EC4B6"/>
                </a:solidFill>
                <a:latin typeface="Calibri"/>
              </a:rPr>
              <a:t>УрФУ  ·  Лекция 01  ·  ML в задачах ИБ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29284"/>
            <a:ext cx="5669280" cy="4892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29284"/>
            <a:ext cx="566928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29284"/>
            <a:ext cx="5669280" cy="50292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Phishing  ·  почта / URL / лендинг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15084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815084"/>
            <a:ext cx="502920" cy="7772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815084"/>
            <a:ext cx="50292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15084"/>
            <a:ext cx="443484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Письмо / ссылка из шлюза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29484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729484"/>
            <a:ext cx="502920" cy="7772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29484"/>
            <a:ext cx="50292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29484"/>
            <a:ext cx="443484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Признаки: домен, WHOIS, HTML, опечатки, бренд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43884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643884"/>
            <a:ext cx="502920" cy="7772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643884"/>
            <a:ext cx="50292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643884"/>
            <a:ext cx="443484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500" b="0" i="0" dirty="0" err="1">
                <a:solidFill>
                  <a:srgbClr val="1B2A41"/>
                </a:solidFill>
                <a:latin typeface="Calibri"/>
              </a:rPr>
              <a:t>Классификатор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 ( GBDT / </a:t>
            </a:r>
            <a:r>
              <a:rPr sz="1500" b="0" i="0" dirty="0" err="1">
                <a:solidFill>
                  <a:srgbClr val="1B2A41"/>
                </a:solidFill>
                <a:latin typeface="Calibri"/>
              </a:rPr>
              <a:t>трансформер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558283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558283"/>
            <a:ext cx="502920" cy="7772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558283"/>
            <a:ext cx="50292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58283"/>
            <a:ext cx="443484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Карантин или предупреждение пользователю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129284"/>
            <a:ext cx="5623560" cy="4892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1129284"/>
            <a:ext cx="5623560" cy="502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1129284"/>
            <a:ext cx="5623560" cy="50292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4F7FB"/>
                </a:solidFill>
                <a:latin typeface="Calibri"/>
              </a:rPr>
              <a:t>UEBA  ·  пользователь и сущность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1815084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46520" y="1815084"/>
            <a:ext cx="502920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1815084"/>
            <a:ext cx="50292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4F7FB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1815084"/>
            <a:ext cx="443484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База: обычные часы, VPN, объём почты, хосты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2729484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46520" y="2729484"/>
            <a:ext cx="502920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2729484"/>
            <a:ext cx="50292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4F7FB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729484"/>
            <a:ext cx="443484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Событие: вход в 03:00 из другой страны + массовая выгрузка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3643884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46520" y="3643884"/>
            <a:ext cx="502920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3643884"/>
            <a:ext cx="50292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4F7FB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643884"/>
            <a:ext cx="443484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Модель: профиль + аномалия / последовательность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4558283"/>
            <a:ext cx="5212080" cy="7772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46520" y="4558283"/>
            <a:ext cx="502920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4558283"/>
            <a:ext cx="50292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4F7FB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4558283"/>
            <a:ext cx="443484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500" b="0" i="0" dirty="0" err="1">
                <a:solidFill>
                  <a:srgbClr val="1B2A41"/>
                </a:solidFill>
                <a:latin typeface="Calibri"/>
              </a:rPr>
              <a:t>Гипотеза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1B2A41"/>
                </a:solidFill>
                <a:latin typeface="Calibri"/>
              </a:rPr>
              <a:t>компрометация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B2A41"/>
                </a:solidFill>
                <a:latin typeface="Calibri"/>
              </a:rPr>
              <a:t>учётки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B2A41"/>
                </a:solidFill>
                <a:latin typeface="Calibri"/>
              </a:rPr>
              <a:t>или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B2A41"/>
                </a:solidFill>
                <a:latin typeface="Calibri"/>
              </a:rPr>
              <a:t>инсайдер</a:t>
            </a:r>
            <a:endParaRPr sz="1500" b="0" i="0" dirty="0">
              <a:solidFill>
                <a:srgbClr val="1B2A4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84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5852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2800" b="1" i="0" dirty="0" err="1">
                <a:solidFill>
                  <a:srgbClr val="F4F7FB"/>
                </a:solidFill>
                <a:latin typeface="Calibri"/>
              </a:rPr>
              <a:t>Почему</a:t>
            </a:r>
            <a:r>
              <a:rPr sz="2800" b="1" i="0" dirty="0">
                <a:solidFill>
                  <a:srgbClr val="F4F7FB"/>
                </a:solidFill>
                <a:latin typeface="Calibri"/>
              </a:rPr>
              <a:t> ИБ-</a:t>
            </a:r>
            <a:r>
              <a:rPr sz="2800" b="1" i="0" dirty="0" err="1">
                <a:solidFill>
                  <a:srgbClr val="F4F7FB"/>
                </a:solidFill>
                <a:latin typeface="Calibri"/>
              </a:rPr>
              <a:t>задачи</a:t>
            </a:r>
            <a:r>
              <a:rPr sz="2800" b="1" i="0" dirty="0">
                <a:solidFill>
                  <a:srgbClr val="F4F7FB"/>
                </a:solidFill>
                <a:latin typeface="Calibri"/>
              </a:rPr>
              <a:t> </a:t>
            </a:r>
            <a:r>
              <a:rPr lang="en-US" sz="2800" b="1" dirty="0">
                <a:solidFill>
                  <a:srgbClr val="F4F7FB"/>
                </a:solidFill>
                <a:latin typeface="Calibri"/>
              </a:rPr>
              <a:t>!= </a:t>
            </a:r>
            <a:r>
              <a:rPr sz="2800" b="1" i="0" dirty="0" err="1">
                <a:solidFill>
                  <a:srgbClr val="F4F7FB"/>
                </a:solidFill>
                <a:latin typeface="Calibri"/>
              </a:rPr>
              <a:t>обычный</a:t>
            </a:r>
            <a:r>
              <a:rPr sz="2800" b="1" i="0" dirty="0">
                <a:solidFill>
                  <a:srgbClr val="F4F7FB"/>
                </a:solidFill>
                <a:latin typeface="Calibri"/>
              </a:rPr>
              <a:t>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EC4B6"/>
                </a:solidFill>
                <a:latin typeface="Calibri"/>
              </a:rPr>
              <a:t>УрФУ  ·  Лекция 01  ·  ML в задачах ИБ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29284"/>
            <a:ext cx="5577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29284"/>
            <a:ext cx="1051560" cy="16916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29284"/>
            <a:ext cx="1051560" cy="16916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4F7F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385316"/>
            <a:ext cx="41148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Дисбаланс классов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79091"/>
            <a:ext cx="4114800" cy="7315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Атак на порядки меньше, чем нормы. Accuracy почти бесполезна.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29284"/>
            <a:ext cx="5577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129284"/>
            <a:ext cx="1051560" cy="16916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129284"/>
            <a:ext cx="1051560" cy="16916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4F7F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385316"/>
            <a:ext cx="41148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Неполная разметка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879091"/>
            <a:ext cx="4114800" cy="7315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A41"/>
                </a:solidFill>
                <a:latin typeface="Calibri"/>
              </a:rPr>
              <a:t>Метки опаздывают, zero-day не размечен, «норма» загрязнена.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40480"/>
            <a:ext cx="5577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051560" cy="169164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840480"/>
            <a:ext cx="1051560" cy="16916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4F7FB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096512"/>
            <a:ext cx="41148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Изменчивость данных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90288"/>
            <a:ext cx="4114800" cy="7315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500" b="0" i="0" dirty="0" err="1">
                <a:solidFill>
                  <a:srgbClr val="1B2A41"/>
                </a:solidFill>
                <a:latin typeface="Calibri"/>
              </a:rPr>
              <a:t>Новые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 malware, </a:t>
            </a:r>
            <a:r>
              <a:rPr sz="1500" b="0" i="0" dirty="0" err="1">
                <a:solidFill>
                  <a:srgbClr val="1B2A41"/>
                </a:solidFill>
                <a:latin typeface="Calibri"/>
              </a:rPr>
              <a:t>смена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lang="ru-RU" sz="1500" b="0" i="0" dirty="0">
                <a:solidFill>
                  <a:srgbClr val="1B2A41"/>
                </a:solidFill>
                <a:latin typeface="Calibri"/>
              </a:rPr>
              <a:t>тактики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B2A41"/>
                </a:solidFill>
                <a:latin typeface="Calibri"/>
              </a:rPr>
              <a:t>сезонность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B2A41"/>
                </a:solidFill>
                <a:latin typeface="Calibri"/>
              </a:rPr>
              <a:t>трафика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40480"/>
            <a:ext cx="55778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840480"/>
            <a:ext cx="1051560" cy="16916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840480"/>
            <a:ext cx="1051560" cy="16916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4F7FB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096512"/>
            <a:ext cx="41148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Цена FP и FN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590288"/>
            <a:ext cx="4114800" cy="7315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>
              <a:spcAft>
                <a:spcPts val="400"/>
              </a:spcAft>
            </a:pPr>
            <a:r>
              <a:rPr sz="1500" b="0" i="0" dirty="0">
                <a:solidFill>
                  <a:srgbClr val="1B2A41"/>
                </a:solidFill>
                <a:latin typeface="Calibri"/>
              </a:rPr>
              <a:t>FP </a:t>
            </a:r>
            <a:r>
              <a:rPr sz="1500" b="0" i="0" dirty="0" err="1">
                <a:solidFill>
                  <a:srgbClr val="1B2A41"/>
                </a:solidFill>
                <a:latin typeface="Calibri"/>
              </a:rPr>
              <a:t>утомляет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 SOC, FN </a:t>
            </a:r>
            <a:r>
              <a:rPr sz="1500" b="0" i="0" dirty="0" err="1">
                <a:solidFill>
                  <a:srgbClr val="1B2A41"/>
                </a:solidFill>
                <a:latin typeface="Calibri"/>
              </a:rPr>
              <a:t>пропускает</a:t>
            </a:r>
            <a:r>
              <a:rPr sz="15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lang="ru-RU" sz="1500" dirty="0">
                <a:solidFill>
                  <a:srgbClr val="1B2A41"/>
                </a:solidFill>
              </a:rPr>
              <a:t>угрозы.</a:t>
            </a:r>
            <a:endParaRPr sz="1500" b="0" i="0" dirty="0">
              <a:solidFill>
                <a:srgbClr val="1B2A4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7672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5852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F7FB"/>
                </a:solidFill>
                <a:latin typeface="Calibri"/>
              </a:rPr>
              <a:t>Дисбаланс классов: ловушка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EC4B6"/>
                </a:solidFill>
                <a:latin typeface="Calibri"/>
              </a:rPr>
              <a:t>УрФУ  ·  Лекция 01  ·  ML в задачах ИБ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29284"/>
            <a:ext cx="5669280" cy="4892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66443"/>
            <a:ext cx="5394960" cy="3657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Поток событий за сутки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120640" cy="7772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120640" cy="7772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71525"/>
                </a:solidFill>
                <a:latin typeface="Calibri"/>
              </a:rPr>
              <a:t>99 900  нормальных событий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777240" cy="502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777240" cy="50292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4F7FB"/>
                </a:solidFill>
                <a:latin typeface="Calibri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52928"/>
            <a:ext cx="4023360" cy="41148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76F51"/>
                </a:solidFill>
                <a:latin typeface="Calibri"/>
              </a:rPr>
              <a:t>атак  ·  соотношение ≈ 1 : 1000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4846320" cy="17373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Модель «всегда норма»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F4F7FB"/>
                </a:solidFill>
                <a:latin typeface="Calibri"/>
              </a:rPr>
              <a:t>Accuracy = 99.9%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9C46A"/>
                </a:solidFill>
                <a:latin typeface="Calibri"/>
              </a:rPr>
              <a:t>Recall атак = 0%   ·   польза для SOC =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29284"/>
            <a:ext cx="5623560" cy="4892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239012"/>
            <a:ext cx="5349240" cy="3657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Матрица ошибок, 100 000 объектов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691640"/>
            <a:ext cx="1828800" cy="3657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5E7185"/>
                </a:solidFill>
                <a:latin typeface="Calibri"/>
              </a:rPr>
              <a:t>Pred: атака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691640"/>
            <a:ext cx="1828800" cy="3657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5E7185"/>
                </a:solidFill>
                <a:latin typeface="Calibri"/>
              </a:rPr>
              <a:t>Pred: норма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94560"/>
            <a:ext cx="1554480" cy="105156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Calibri"/>
              </a:rPr>
              <a:t>Атака
есть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83280"/>
            <a:ext cx="1554480" cy="105156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Calibri"/>
              </a:rPr>
              <a:t>Атаки
нет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14884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09560" y="2148840"/>
            <a:ext cx="1874519" cy="11430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71525"/>
                </a:solidFill>
                <a:latin typeface="Calibri"/>
              </a:rPr>
              <a:t>TP = 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2148840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0" y="2148840"/>
            <a:ext cx="1783080" cy="11430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4F7FB"/>
                </a:solidFill>
                <a:latin typeface="Calibri"/>
              </a:rPr>
              <a:t>FN = 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38328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3383280"/>
            <a:ext cx="1874519" cy="11430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FP = 200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75520" y="3383280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0" y="3383280"/>
            <a:ext cx="1783080" cy="11430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TN = 99700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709160"/>
            <a:ext cx="5349240" cy="10515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Precision = 80/280 ≈ 29%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Recall = 80/100 = 80%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76F51"/>
                </a:solidFill>
                <a:latin typeface="Calibri"/>
              </a:rPr>
              <a:t>Accuracy всё ещё ≈ 99.78% — и снова обманывает</a:t>
            </a:r>
          </a:p>
        </p:txBody>
      </p:sp>
    </p:spTree>
    <p:extLst>
      <p:ext uri="{BB962C8B-B14F-4D97-AF65-F5344CB8AC3E}">
        <p14:creationId xmlns:p14="http://schemas.microsoft.com/office/powerpoint/2010/main" val="409200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5852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2800" b="1" i="0" dirty="0" err="1">
                <a:solidFill>
                  <a:srgbClr val="F4F7FB"/>
                </a:solidFill>
                <a:latin typeface="Calibri"/>
              </a:rPr>
              <a:t>Цена</a:t>
            </a:r>
            <a:r>
              <a:rPr sz="2800" b="1" i="0" dirty="0">
                <a:solidFill>
                  <a:srgbClr val="F4F7FB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4F7FB"/>
                </a:solidFill>
                <a:latin typeface="Calibri"/>
              </a:rPr>
              <a:t>ошибок</a:t>
            </a:r>
            <a:endParaRPr sz="2800" b="1" i="0" dirty="0">
              <a:solidFill>
                <a:srgbClr val="F4F7FB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EC4B6"/>
                </a:solidFill>
                <a:latin typeface="Calibri"/>
              </a:rPr>
              <a:t>УрФУ  ·  Лекция 01  ·  ML в задачах ИБ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29284"/>
            <a:ext cx="5760720" cy="36576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Матрица стоимости (условно)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00200"/>
            <a:ext cx="201168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5E7185"/>
                </a:solidFill>
                <a:latin typeface="Calibri"/>
              </a:rPr>
              <a:t>Pred: атака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600200"/>
            <a:ext cx="201168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5E7185"/>
                </a:solidFill>
                <a:latin typeface="Calibri"/>
              </a:rPr>
              <a:t>Pred: норма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1691640" cy="105156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Calibri"/>
              </a:rPr>
              <a:t>Атака
есть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1691640" cy="105156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Calibri"/>
              </a:rPr>
              <a:t>Атаки
нет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1965960"/>
            <a:ext cx="2057400" cy="114300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57400" y="1965960"/>
            <a:ext cx="2057400" cy="11430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71525"/>
                </a:solidFill>
                <a:latin typeface="Calibri"/>
              </a:rPr>
              <a:t>TP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0B1F3A"/>
                </a:solidFill>
                <a:latin typeface="Calibri"/>
              </a:rPr>
              <a:t>разбор ≈ 15 мин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96596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965960"/>
            <a:ext cx="2011680" cy="11430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4F7FB"/>
                </a:solidFill>
                <a:latin typeface="Calibri"/>
              </a:rPr>
              <a:t>FN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4F7FB"/>
                </a:solidFill>
                <a:latin typeface="Calibri"/>
              </a:rPr>
              <a:t>APT / утечка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3200400"/>
            <a:ext cx="2057400" cy="1143000"/>
          </a:xfrm>
          <a:prstGeom prst="roundRect">
            <a:avLst>
              <a:gd name="adj" fmla="val 6000"/>
            </a:avLst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57400" y="3200400"/>
            <a:ext cx="2057400" cy="11430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FP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0B1F3A"/>
                </a:solidFill>
                <a:latin typeface="Calibri"/>
              </a:rPr>
              <a:t>время аналитика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20040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3200400"/>
            <a:ext cx="2011680" cy="114300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TN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E7185"/>
                </a:solidFill>
                <a:latin typeface="Calibri"/>
              </a:rPr>
              <a:t>стоимость ≈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26280"/>
            <a:ext cx="5806440" cy="15087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5532120" cy="12344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Порог — не «математика ради метрики»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4F7FB"/>
                </a:solidFill>
                <a:latin typeface="Calibri"/>
              </a:rPr>
              <a:t>Ниже порог → больше Recall и больше FP.
Выше порог → тише SOC, выше риск пропуска APT.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129284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1129284"/>
            <a:ext cx="82296" cy="22860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1220724"/>
            <a:ext cx="5184648" cy="347472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Ложные срабатывания (FP)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1549907"/>
            <a:ext cx="5184648" cy="1773936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A41"/>
                </a:solidFill>
                <a:latin typeface="Calibri"/>
              </a:rPr>
              <a:t>500 лишних алертов в день. Аналитик выгорает и начинает игнорировать правила. IPS может резать рабочие сервисы. Это операционный отказ системы ИБ.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70332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3703320"/>
            <a:ext cx="82296" cy="23317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3794759"/>
            <a:ext cx="5184648" cy="347472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Пропуск атаки (FN)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123944"/>
            <a:ext cx="5184648" cy="1819655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1B2A41"/>
                </a:solidFill>
                <a:latin typeface="Calibri"/>
              </a:rPr>
              <a:t>Один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пропущенный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lang="ru-RU" sz="1400" b="0" i="0" dirty="0">
                <a:solidFill>
                  <a:srgbClr val="1B2A41"/>
                </a:solidFill>
                <a:latin typeface="Calibri"/>
              </a:rPr>
              <a:t>фишинг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→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компрометация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учёт</a:t>
            </a:r>
            <a:r>
              <a:rPr lang="ru-RU" sz="1400" b="0" i="0" dirty="0">
                <a:solidFill>
                  <a:srgbClr val="1B2A41"/>
                </a:solidFill>
                <a:latin typeface="Calibri"/>
              </a:rPr>
              <a:t>ной записи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. </a:t>
            </a:r>
            <a:endParaRPr lang="ru-RU" sz="1400" b="0" i="0" dirty="0">
              <a:solidFill>
                <a:srgbClr val="1B2A41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1B2A41"/>
                </a:solidFill>
                <a:latin typeface="Calibri"/>
              </a:rPr>
              <a:t>Цена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FN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часто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на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порядки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выше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цены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FP,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но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бесконечно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снижать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порог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B2A41"/>
                </a:solidFill>
                <a:latin typeface="Calibri"/>
              </a:rPr>
              <a:t>нельзя</a:t>
            </a:r>
            <a:r>
              <a:rPr sz="1400" b="0" i="0" dirty="0">
                <a:solidFill>
                  <a:srgbClr val="1B2A41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8119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585216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F7FB"/>
                </a:solidFill>
                <a:latin typeface="Calibri"/>
              </a:rPr>
              <a:t>ИБ-особенности на карте жизненного цикла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EC4B6"/>
                </a:solidFill>
                <a:latin typeface="Calibri"/>
              </a:rPr>
              <a:t>УрФУ  ·  Лекция 01  ·  ML в задачах ИБ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29284"/>
            <a:ext cx="1874519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29284"/>
            <a:ext cx="1874519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" y="1266443"/>
            <a:ext cx="1764792" cy="10058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Business
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46604"/>
            <a:ext cx="1691640" cy="20574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B2A41"/>
                </a:solidFill>
                <a:latin typeface="Calibri"/>
              </a:rPr>
              <a:t>Цена FN/FP,
комплаенс,
что считаем атакой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94560" y="3063240"/>
            <a:ext cx="109728" cy="18288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04288" y="1129284"/>
            <a:ext cx="1874519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04288" y="1129284"/>
            <a:ext cx="1874519" cy="123444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9152" y="1266443"/>
            <a:ext cx="1764792" cy="10058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Data
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2546604"/>
            <a:ext cx="1691640" cy="20574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B2A41"/>
                </a:solidFill>
                <a:latin typeface="Calibri"/>
              </a:rPr>
              <a:t>Дисбаланс,
грязная норма,
задержка меток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78808" y="3063240"/>
            <a:ext cx="109728" cy="18288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88536" y="1129284"/>
            <a:ext cx="1874519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88536" y="1129284"/>
            <a:ext cx="1874519" cy="1234440"/>
          </a:xfrm>
          <a:prstGeom prst="rect">
            <a:avLst/>
          </a:prstGeom>
          <a:solidFill>
            <a:srgbClr val="1A8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399" y="1266443"/>
            <a:ext cx="1764792" cy="10058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Model
Building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5" y="2546604"/>
            <a:ext cx="1691640" cy="20574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B2A41"/>
                </a:solidFill>
                <a:latin typeface="Calibri"/>
              </a:rPr>
              <a:t>class weights,
anomaly vs clf,
устойчивые признаки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63055" y="3063240"/>
            <a:ext cx="109728" cy="18288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72783" y="1129284"/>
            <a:ext cx="1874519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72783" y="1129284"/>
            <a:ext cx="1874519" cy="1234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7" y="1266443"/>
            <a:ext cx="1764792" cy="10058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Model
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3" y="2546604"/>
            <a:ext cx="1691640" cy="20574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B2A41"/>
                </a:solidFill>
                <a:latin typeface="Calibri"/>
              </a:rPr>
              <a:t>PR, cost matrix,
не accuracy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147304" y="3063240"/>
            <a:ext cx="109728" cy="18288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57031" y="1129284"/>
            <a:ext cx="1874519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57031" y="1129284"/>
            <a:ext cx="1874519" cy="12344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11896" y="1266443"/>
            <a:ext cx="1764792" cy="10058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2546604"/>
            <a:ext cx="1691640" cy="20574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B2A41"/>
                </a:solidFill>
                <a:latin typeface="Calibri"/>
              </a:rPr>
              <a:t>порог, human-in-the-loop
или автоблок IPS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0131551" y="3063240"/>
            <a:ext cx="109728" cy="182880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241280" y="1129284"/>
            <a:ext cx="1874519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41280" y="1129284"/>
            <a:ext cx="1874519" cy="12344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96144" y="1266443"/>
            <a:ext cx="1764792" cy="1005840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4F7FB"/>
                </a:solidFill>
                <a:latin typeface="Calibri"/>
              </a:rPr>
              <a:t>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9" y="2546604"/>
            <a:ext cx="1691640" cy="20574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B2A41"/>
                </a:solidFill>
                <a:latin typeface="Calibri"/>
              </a:rPr>
              <a:t>drift, feedback SOC,
переобучение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ctr">
              <a:spcAft>
                <a:spcPts val="400"/>
              </a:spcAft>
            </a:pPr>
            <a:r>
              <a:rPr sz="1500" b="1" i="0" dirty="0">
                <a:solidFill>
                  <a:srgbClr val="0B1F3A"/>
                </a:solidFill>
                <a:latin typeface="Calibri"/>
              </a:rPr>
              <a:t>ИБ </a:t>
            </a:r>
            <a:r>
              <a:rPr sz="1500" b="1" i="0" dirty="0" err="1">
                <a:solidFill>
                  <a:srgbClr val="0B1F3A"/>
                </a:solidFill>
                <a:latin typeface="Calibri"/>
              </a:rPr>
              <a:t>задаёт</a:t>
            </a:r>
            <a:r>
              <a:rPr sz="1500" b="1" i="0" dirty="0">
                <a:solidFill>
                  <a:srgbClr val="0B1F3A"/>
                </a:solidFill>
                <a:latin typeface="Calibri"/>
              </a:rPr>
              <a:t> </a:t>
            </a:r>
            <a:r>
              <a:rPr lang="ru-RU" sz="1500" b="1" i="0" dirty="0">
                <a:solidFill>
                  <a:srgbClr val="0B1F3A"/>
                </a:solidFill>
                <a:latin typeface="Calibri"/>
              </a:rPr>
              <a:t>еще более </a:t>
            </a:r>
            <a:r>
              <a:rPr sz="1500" b="1" i="0" dirty="0" err="1">
                <a:solidFill>
                  <a:srgbClr val="0B1F3A"/>
                </a:solidFill>
                <a:latin typeface="Calibri"/>
              </a:rPr>
              <a:t>жёсткие</a:t>
            </a:r>
            <a:r>
              <a:rPr sz="1500" b="1" i="0" dirty="0">
                <a:solidFill>
                  <a:srgbClr val="0B1F3A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0B1F3A"/>
                </a:solidFill>
                <a:latin typeface="Calibri"/>
              </a:rPr>
              <a:t>требования</a:t>
            </a:r>
            <a:r>
              <a:rPr sz="1500" b="1" i="0" dirty="0">
                <a:solidFill>
                  <a:srgbClr val="0B1F3A"/>
                </a:solidFill>
                <a:latin typeface="Calibri"/>
              </a:rPr>
              <a:t> к </a:t>
            </a:r>
            <a:r>
              <a:rPr sz="1500" b="1" i="0" dirty="0" err="1">
                <a:solidFill>
                  <a:srgbClr val="0B1F3A"/>
                </a:solidFill>
                <a:latin typeface="Calibri"/>
              </a:rPr>
              <a:t>данным</a:t>
            </a:r>
            <a:r>
              <a:rPr sz="1500" b="1" i="0" dirty="0">
                <a:solidFill>
                  <a:srgbClr val="0B1F3A"/>
                </a:solidFill>
                <a:latin typeface="Calibri"/>
              </a:rPr>
              <a:t>, </a:t>
            </a:r>
            <a:r>
              <a:rPr sz="1500" b="1" i="0" dirty="0" err="1">
                <a:solidFill>
                  <a:srgbClr val="0B1F3A"/>
                </a:solidFill>
                <a:latin typeface="Calibri"/>
              </a:rPr>
              <a:t>метрикам</a:t>
            </a:r>
            <a:r>
              <a:rPr sz="1500" b="1" i="0" dirty="0">
                <a:solidFill>
                  <a:srgbClr val="0B1F3A"/>
                </a:solidFill>
                <a:latin typeface="Calibri"/>
              </a:rPr>
              <a:t> и </a:t>
            </a:r>
            <a:r>
              <a:rPr sz="1500" b="1" i="0" dirty="0" err="1">
                <a:solidFill>
                  <a:srgbClr val="0B1F3A"/>
                </a:solidFill>
                <a:latin typeface="Calibri"/>
              </a:rPr>
              <a:t>мониторингу</a:t>
            </a:r>
            <a:r>
              <a:rPr sz="1500" b="1" i="0" dirty="0">
                <a:solidFill>
                  <a:srgbClr val="0B1F3A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88964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1639</Words>
  <Application>Microsoft Office PowerPoint</Application>
  <PresentationFormat>Широкоэкранный</PresentationFormat>
  <Paragraphs>238</Paragraphs>
  <Slides>27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Основные этапы разработки ML-решения</vt:lpstr>
      <vt:lpstr>Жизненный цикл разработки ML-решения</vt:lpstr>
      <vt:lpstr>Business &amp; Data Understading</vt:lpstr>
      <vt:lpstr>Business &amp; Data Understading</vt:lpstr>
      <vt:lpstr>Data Engineering</vt:lpstr>
      <vt:lpstr>Model Building</vt:lpstr>
      <vt:lpstr>Model Evaluation</vt:lpstr>
      <vt:lpstr>Model Deployment</vt:lpstr>
      <vt:lpstr>Monitoring and Maintenance</vt:lpstr>
      <vt:lpstr>Презентация PowerPoint</vt:lpstr>
      <vt:lpstr>Типы задач</vt:lpstr>
      <vt:lpstr>Semi-supervised</vt:lpstr>
      <vt:lpstr>Supervised vs unsupervised</vt:lpstr>
      <vt:lpstr>Классификация и регрессия</vt:lpstr>
      <vt:lpstr>Кластеризация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Кристина Желтова</dc:creator>
  <cp:lastModifiedBy>Кристина Желтова</cp:lastModifiedBy>
  <cp:revision>14</cp:revision>
  <dcterms:created xsi:type="dcterms:W3CDTF">2026-09-10T21:52:56Z</dcterms:created>
  <dcterms:modified xsi:type="dcterms:W3CDTF">2026-09-10T22:59:48Z</dcterms:modified>
</cp:coreProperties>
</file>